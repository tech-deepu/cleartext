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80" r:id="rId8"/>
    <p:sldId id="281" r:id="rId9"/>
    <p:sldId id="282" r:id="rId10"/>
    <p:sldId id="263" r:id="rId11"/>
    <p:sldId id="264" r:id="rId12"/>
    <p:sldId id="265" r:id="rId13"/>
    <p:sldId id="266" r:id="rId14"/>
    <p:sldId id="267" r:id="rId15"/>
    <p:sldId id="268" r:id="rId16"/>
    <p:sldId id="283" r:id="rId17"/>
    <p:sldId id="284" r:id="rId18"/>
    <p:sldId id="285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82" d="100"/>
          <a:sy n="82" d="100"/>
        </p:scale>
        <p:origin x="691" y="11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1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12" Type="http://schemas.openxmlformats.org/officeDocument/2006/relationships/image" Target="../media/image2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Relationship Id="rId14" Type="http://schemas.openxmlformats.org/officeDocument/2006/relationships/image" Target="../media/image2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32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12" Type="http://schemas.openxmlformats.org/officeDocument/2006/relationships/image" Target="../media/image3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11" Type="http://schemas.openxmlformats.org/officeDocument/2006/relationships/image" Target="../media/image30.png"/><Relationship Id="rId5" Type="http://schemas.openxmlformats.org/officeDocument/2006/relationships/image" Target="../media/image25.png"/><Relationship Id="rId15" Type="http://schemas.openxmlformats.org/officeDocument/2006/relationships/image" Target="../media/image34.png"/><Relationship Id="rId10" Type="http://schemas.openxmlformats.org/officeDocument/2006/relationships/image" Target="../media/image29.png"/><Relationship Id="rId4" Type="http://schemas.openxmlformats.org/officeDocument/2006/relationships/image" Target="../media/image24.png"/><Relationship Id="rId9" Type="http://schemas.openxmlformats.org/officeDocument/2006/relationships/image" Target="../media/image28.png"/><Relationship Id="rId14" Type="http://schemas.openxmlformats.org/officeDocument/2006/relationships/image" Target="../media/image3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39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12" Type="http://schemas.openxmlformats.org/officeDocument/2006/relationships/image" Target="../media/image30.png"/><Relationship Id="rId2" Type="http://schemas.openxmlformats.org/officeDocument/2006/relationships/image" Target="../media/image1.png"/><Relationship Id="rId16" Type="http://schemas.openxmlformats.org/officeDocument/2006/relationships/image" Target="../media/image3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11" Type="http://schemas.openxmlformats.org/officeDocument/2006/relationships/image" Target="../media/image29.png"/><Relationship Id="rId5" Type="http://schemas.openxmlformats.org/officeDocument/2006/relationships/image" Target="../media/image36.png"/><Relationship Id="rId15" Type="http://schemas.openxmlformats.org/officeDocument/2006/relationships/image" Target="../media/image33.png"/><Relationship Id="rId10" Type="http://schemas.openxmlformats.org/officeDocument/2006/relationships/image" Target="../media/image38.png"/><Relationship Id="rId4" Type="http://schemas.openxmlformats.org/officeDocument/2006/relationships/image" Target="../media/image35.png"/><Relationship Id="rId9" Type="http://schemas.openxmlformats.org/officeDocument/2006/relationships/image" Target="../media/image37.png"/><Relationship Id="rId14" Type="http://schemas.openxmlformats.org/officeDocument/2006/relationships/image" Target="../media/image4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39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12" Type="http://schemas.openxmlformats.org/officeDocument/2006/relationships/image" Target="../media/image30.png"/><Relationship Id="rId2" Type="http://schemas.openxmlformats.org/officeDocument/2006/relationships/image" Target="../media/image1.png"/><Relationship Id="rId16" Type="http://schemas.openxmlformats.org/officeDocument/2006/relationships/image" Target="../media/image3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1.png"/><Relationship Id="rId11" Type="http://schemas.openxmlformats.org/officeDocument/2006/relationships/image" Target="../media/image38.png"/><Relationship Id="rId5" Type="http://schemas.openxmlformats.org/officeDocument/2006/relationships/image" Target="../media/image26.png"/><Relationship Id="rId15" Type="http://schemas.openxmlformats.org/officeDocument/2006/relationships/image" Target="../media/image42.png"/><Relationship Id="rId10" Type="http://schemas.openxmlformats.org/officeDocument/2006/relationships/image" Target="../media/image29.png"/><Relationship Id="rId4" Type="http://schemas.openxmlformats.org/officeDocument/2006/relationships/image" Target="../media/image35.png"/><Relationship Id="rId9" Type="http://schemas.openxmlformats.org/officeDocument/2006/relationships/image" Target="../media/image37.png"/><Relationship Id="rId14" Type="http://schemas.openxmlformats.org/officeDocument/2006/relationships/image" Target="../media/image3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39.png"/><Relationship Id="rId3" Type="http://schemas.openxmlformats.org/officeDocument/2006/relationships/image" Target="../media/image23.png"/><Relationship Id="rId7" Type="http://schemas.openxmlformats.org/officeDocument/2006/relationships/image" Target="../media/image24.png"/><Relationship Id="rId12" Type="http://schemas.openxmlformats.org/officeDocument/2006/relationships/image" Target="../media/image38.png"/><Relationship Id="rId2" Type="http://schemas.openxmlformats.org/officeDocument/2006/relationships/image" Target="../media/image1.png"/><Relationship Id="rId16" Type="http://schemas.openxmlformats.org/officeDocument/2006/relationships/image" Target="../media/image4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11" Type="http://schemas.openxmlformats.org/officeDocument/2006/relationships/image" Target="../media/image30.png"/><Relationship Id="rId5" Type="http://schemas.openxmlformats.org/officeDocument/2006/relationships/image" Target="../media/image26.png"/><Relationship Id="rId15" Type="http://schemas.openxmlformats.org/officeDocument/2006/relationships/image" Target="../media/image43.png"/><Relationship Id="rId10" Type="http://schemas.openxmlformats.org/officeDocument/2006/relationships/image" Target="../media/image29.png"/><Relationship Id="rId4" Type="http://schemas.openxmlformats.org/officeDocument/2006/relationships/image" Target="../media/image35.png"/><Relationship Id="rId9" Type="http://schemas.openxmlformats.org/officeDocument/2006/relationships/image" Target="../media/image37.png"/><Relationship Id="rId14" Type="http://schemas.openxmlformats.org/officeDocument/2006/relationships/image" Target="../media/image3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image" Target="../media/image45.png"/><Relationship Id="rId7" Type="http://schemas.openxmlformats.org/officeDocument/2006/relationships/image" Target="../media/image49.png"/><Relationship Id="rId12" Type="http://schemas.openxmlformats.org/officeDocument/2006/relationships/image" Target="../media/image5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8.png"/><Relationship Id="rId11" Type="http://schemas.openxmlformats.org/officeDocument/2006/relationships/image" Target="../media/image53.png"/><Relationship Id="rId5" Type="http://schemas.openxmlformats.org/officeDocument/2006/relationships/image" Target="../media/image47.png"/><Relationship Id="rId10" Type="http://schemas.openxmlformats.org/officeDocument/2006/relationships/image" Target="../media/image52.png"/><Relationship Id="rId4" Type="http://schemas.openxmlformats.org/officeDocument/2006/relationships/image" Target="../media/image46.png"/><Relationship Id="rId9" Type="http://schemas.openxmlformats.org/officeDocument/2006/relationships/image" Target="../media/image5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image" Target="../media/image45.png"/><Relationship Id="rId7" Type="http://schemas.openxmlformats.org/officeDocument/2006/relationships/image" Target="../media/image49.png"/><Relationship Id="rId12" Type="http://schemas.openxmlformats.org/officeDocument/2006/relationships/image" Target="../media/image5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8.png"/><Relationship Id="rId11" Type="http://schemas.openxmlformats.org/officeDocument/2006/relationships/image" Target="../media/image53.png"/><Relationship Id="rId5" Type="http://schemas.openxmlformats.org/officeDocument/2006/relationships/image" Target="../media/image47.png"/><Relationship Id="rId10" Type="http://schemas.openxmlformats.org/officeDocument/2006/relationships/image" Target="../media/image52.png"/><Relationship Id="rId4" Type="http://schemas.openxmlformats.org/officeDocument/2006/relationships/image" Target="../media/image46.png"/><Relationship Id="rId9" Type="http://schemas.openxmlformats.org/officeDocument/2006/relationships/image" Target="../media/image51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3" Type="http://schemas.openxmlformats.org/officeDocument/2006/relationships/image" Target="../media/image45.png"/><Relationship Id="rId7" Type="http://schemas.openxmlformats.org/officeDocument/2006/relationships/image" Target="../media/image49.png"/><Relationship Id="rId12" Type="http://schemas.openxmlformats.org/officeDocument/2006/relationships/image" Target="../media/image5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1.png"/><Relationship Id="rId11" Type="http://schemas.openxmlformats.org/officeDocument/2006/relationships/image" Target="../media/image48.png"/><Relationship Id="rId5" Type="http://schemas.openxmlformats.org/officeDocument/2006/relationships/image" Target="../media/image47.png"/><Relationship Id="rId10" Type="http://schemas.openxmlformats.org/officeDocument/2006/relationships/image" Target="../media/image54.png"/><Relationship Id="rId4" Type="http://schemas.openxmlformats.org/officeDocument/2006/relationships/image" Target="../media/image46.png"/><Relationship Id="rId9" Type="http://schemas.openxmlformats.org/officeDocument/2006/relationships/image" Target="../media/image5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3" Type="http://schemas.openxmlformats.org/officeDocument/2006/relationships/image" Target="../media/image23.png"/><Relationship Id="rId7" Type="http://schemas.openxmlformats.org/officeDocument/2006/relationships/image" Target="../media/image5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56.png"/><Relationship Id="rId10" Type="http://schemas.openxmlformats.org/officeDocument/2006/relationships/image" Target="../media/image60.png"/><Relationship Id="rId4" Type="http://schemas.openxmlformats.org/officeDocument/2006/relationships/image" Target="../media/image55.png"/><Relationship Id="rId9" Type="http://schemas.openxmlformats.org/officeDocument/2006/relationships/image" Target="../media/image59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png"/><Relationship Id="rId3" Type="http://schemas.openxmlformats.org/officeDocument/2006/relationships/image" Target="../media/image23.png"/><Relationship Id="rId7" Type="http://schemas.openxmlformats.org/officeDocument/2006/relationships/image" Target="../media/image6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62.png"/><Relationship Id="rId4" Type="http://schemas.openxmlformats.org/officeDocument/2006/relationships/image" Target="../media/image61.png"/><Relationship Id="rId9" Type="http://schemas.openxmlformats.org/officeDocument/2006/relationships/image" Target="../media/image65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png"/><Relationship Id="rId3" Type="http://schemas.openxmlformats.org/officeDocument/2006/relationships/image" Target="../media/image23.png"/><Relationship Id="rId7" Type="http://schemas.openxmlformats.org/officeDocument/2006/relationships/image" Target="../media/image6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6.png"/><Relationship Id="rId5" Type="http://schemas.openxmlformats.org/officeDocument/2006/relationships/image" Target="../media/image67.png"/><Relationship Id="rId4" Type="http://schemas.openxmlformats.org/officeDocument/2006/relationships/image" Target="../media/image66.png"/><Relationship Id="rId9" Type="http://schemas.openxmlformats.org/officeDocument/2006/relationships/image" Target="../media/image70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png"/><Relationship Id="rId3" Type="http://schemas.openxmlformats.org/officeDocument/2006/relationships/image" Target="../media/image23.png"/><Relationship Id="rId7" Type="http://schemas.openxmlformats.org/officeDocument/2006/relationships/image" Target="../media/image7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62.png"/><Relationship Id="rId4" Type="http://schemas.openxmlformats.org/officeDocument/2006/relationships/image" Target="../media/image61.png"/><Relationship Id="rId9" Type="http://schemas.openxmlformats.org/officeDocument/2006/relationships/image" Target="../media/image73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png"/><Relationship Id="rId3" Type="http://schemas.openxmlformats.org/officeDocument/2006/relationships/image" Target="../media/image23.png"/><Relationship Id="rId7" Type="http://schemas.openxmlformats.org/officeDocument/2006/relationships/image" Target="../media/image7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6.png"/><Relationship Id="rId5" Type="http://schemas.openxmlformats.org/officeDocument/2006/relationships/image" Target="../media/image67.png"/><Relationship Id="rId4" Type="http://schemas.openxmlformats.org/officeDocument/2006/relationships/image" Target="../media/image66.png"/><Relationship Id="rId9" Type="http://schemas.openxmlformats.org/officeDocument/2006/relationships/image" Target="../media/image76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0.png"/><Relationship Id="rId3" Type="http://schemas.openxmlformats.org/officeDocument/2006/relationships/image" Target="../media/image23.png"/><Relationship Id="rId7" Type="http://schemas.openxmlformats.org/officeDocument/2006/relationships/image" Target="../media/image7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8.png"/><Relationship Id="rId11" Type="http://schemas.openxmlformats.org/officeDocument/2006/relationships/image" Target="../media/image83.png"/><Relationship Id="rId5" Type="http://schemas.openxmlformats.org/officeDocument/2006/relationships/image" Target="../media/image77.png"/><Relationship Id="rId10" Type="http://schemas.openxmlformats.org/officeDocument/2006/relationships/image" Target="../media/image82.png"/><Relationship Id="rId4" Type="http://schemas.openxmlformats.org/officeDocument/2006/relationships/image" Target="../media/image14.png"/><Relationship Id="rId9" Type="http://schemas.openxmlformats.org/officeDocument/2006/relationships/image" Target="../media/image81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2.png"/><Relationship Id="rId3" Type="http://schemas.openxmlformats.org/officeDocument/2006/relationships/image" Target="../media/image23.png"/><Relationship Id="rId7" Type="http://schemas.openxmlformats.org/officeDocument/2006/relationships/image" Target="../media/image8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0.png"/><Relationship Id="rId11" Type="http://schemas.openxmlformats.org/officeDocument/2006/relationships/image" Target="../media/image79.png"/><Relationship Id="rId5" Type="http://schemas.openxmlformats.org/officeDocument/2006/relationships/image" Target="../media/image77.png"/><Relationship Id="rId10" Type="http://schemas.openxmlformats.org/officeDocument/2006/relationships/image" Target="../media/image78.png"/><Relationship Id="rId4" Type="http://schemas.openxmlformats.org/officeDocument/2006/relationships/image" Target="../media/image14.png"/><Relationship Id="rId9" Type="http://schemas.openxmlformats.org/officeDocument/2006/relationships/image" Target="../media/image83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8.png"/><Relationship Id="rId3" Type="http://schemas.openxmlformats.org/officeDocument/2006/relationships/image" Target="../media/image23.png"/><Relationship Id="rId7" Type="http://schemas.openxmlformats.org/officeDocument/2006/relationships/image" Target="../media/image7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3.png"/><Relationship Id="rId11" Type="http://schemas.openxmlformats.org/officeDocument/2006/relationships/image" Target="../media/image81.png"/><Relationship Id="rId5" Type="http://schemas.openxmlformats.org/officeDocument/2006/relationships/image" Target="../media/image82.png"/><Relationship Id="rId10" Type="http://schemas.openxmlformats.org/officeDocument/2006/relationships/image" Target="../media/image80.png"/><Relationship Id="rId4" Type="http://schemas.openxmlformats.org/officeDocument/2006/relationships/image" Target="../media/image14.png"/><Relationship Id="rId9" Type="http://schemas.openxmlformats.org/officeDocument/2006/relationships/image" Target="../media/image79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0.png"/><Relationship Id="rId3" Type="http://schemas.openxmlformats.org/officeDocument/2006/relationships/image" Target="../media/image23.png"/><Relationship Id="rId7" Type="http://schemas.openxmlformats.org/officeDocument/2006/relationships/image" Target="../media/image7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8.png"/><Relationship Id="rId11" Type="http://schemas.openxmlformats.org/officeDocument/2006/relationships/image" Target="../media/image83.png"/><Relationship Id="rId5" Type="http://schemas.openxmlformats.org/officeDocument/2006/relationships/image" Target="../media/image77.png"/><Relationship Id="rId10" Type="http://schemas.openxmlformats.org/officeDocument/2006/relationships/image" Target="../media/image82.png"/><Relationship Id="rId4" Type="http://schemas.openxmlformats.org/officeDocument/2006/relationships/image" Target="../media/image14.png"/><Relationship Id="rId9" Type="http://schemas.openxmlformats.org/officeDocument/2006/relationships/image" Target="../media/image81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5.png"/><Relationship Id="rId3" Type="http://schemas.openxmlformats.org/officeDocument/2006/relationships/image" Target="../media/image23.png"/><Relationship Id="rId7" Type="http://schemas.openxmlformats.org/officeDocument/2006/relationships/image" Target="../media/image8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62.png"/><Relationship Id="rId4" Type="http://schemas.openxmlformats.org/officeDocument/2006/relationships/image" Target="../media/image61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0.png"/><Relationship Id="rId3" Type="http://schemas.openxmlformats.org/officeDocument/2006/relationships/image" Target="../media/image23.png"/><Relationship Id="rId7" Type="http://schemas.openxmlformats.org/officeDocument/2006/relationships/image" Target="../media/image89.png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6.png"/><Relationship Id="rId5" Type="http://schemas.openxmlformats.org/officeDocument/2006/relationships/image" Target="../media/image88.png"/><Relationship Id="rId10" Type="http://schemas.openxmlformats.org/officeDocument/2006/relationships/image" Target="../media/image92.png"/><Relationship Id="rId4" Type="http://schemas.openxmlformats.org/officeDocument/2006/relationships/image" Target="../media/image87.png"/><Relationship Id="rId9" Type="http://schemas.openxmlformats.org/officeDocument/2006/relationships/image" Target="../media/image91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7.png"/><Relationship Id="rId3" Type="http://schemas.openxmlformats.org/officeDocument/2006/relationships/image" Target="../media/image94.png"/><Relationship Id="rId7" Type="http://schemas.openxmlformats.org/officeDocument/2006/relationships/image" Target="../media/image96.png"/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6.png"/><Relationship Id="rId5" Type="http://schemas.openxmlformats.org/officeDocument/2006/relationships/image" Target="../media/image95.png"/><Relationship Id="rId10" Type="http://schemas.openxmlformats.org/officeDocument/2006/relationships/image" Target="../media/image99.png"/><Relationship Id="rId4" Type="http://schemas.openxmlformats.org/officeDocument/2006/relationships/image" Target="../media/image88.png"/><Relationship Id="rId9" Type="http://schemas.openxmlformats.org/officeDocument/2006/relationships/image" Target="../media/image98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4.png"/><Relationship Id="rId3" Type="http://schemas.openxmlformats.org/officeDocument/2006/relationships/image" Target="../media/image101.png"/><Relationship Id="rId7" Type="http://schemas.openxmlformats.org/officeDocument/2006/relationships/image" Target="../media/image14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3.png"/><Relationship Id="rId11" Type="http://schemas.openxmlformats.org/officeDocument/2006/relationships/image" Target="../media/image99.png"/><Relationship Id="rId5" Type="http://schemas.openxmlformats.org/officeDocument/2006/relationships/image" Target="../media/image88.png"/><Relationship Id="rId10" Type="http://schemas.openxmlformats.org/officeDocument/2006/relationships/image" Target="../media/image98.png"/><Relationship Id="rId4" Type="http://schemas.openxmlformats.org/officeDocument/2006/relationships/image" Target="../media/image102.png"/><Relationship Id="rId9" Type="http://schemas.openxmlformats.org/officeDocument/2006/relationships/image" Target="../media/image105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8.png"/><Relationship Id="rId13" Type="http://schemas.openxmlformats.org/officeDocument/2006/relationships/image" Target="../media/image113.png"/><Relationship Id="rId3" Type="http://schemas.openxmlformats.org/officeDocument/2006/relationships/image" Target="../media/image23.png"/><Relationship Id="rId7" Type="http://schemas.openxmlformats.org/officeDocument/2006/relationships/image" Target="../media/image5.png"/><Relationship Id="rId12" Type="http://schemas.openxmlformats.org/officeDocument/2006/relationships/image" Target="../media/image1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6.png"/><Relationship Id="rId11" Type="http://schemas.openxmlformats.org/officeDocument/2006/relationships/image" Target="../media/image111.png"/><Relationship Id="rId5" Type="http://schemas.openxmlformats.org/officeDocument/2006/relationships/image" Target="../media/image107.png"/><Relationship Id="rId10" Type="http://schemas.openxmlformats.org/officeDocument/2006/relationships/image" Target="../media/image110.png"/><Relationship Id="rId4" Type="http://schemas.openxmlformats.org/officeDocument/2006/relationships/image" Target="../media/image106.png"/><Relationship Id="rId9" Type="http://schemas.openxmlformats.org/officeDocument/2006/relationships/image" Target="../media/image109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8.png"/><Relationship Id="rId3" Type="http://schemas.openxmlformats.org/officeDocument/2006/relationships/image" Target="../media/image23.png"/><Relationship Id="rId7" Type="http://schemas.openxmlformats.org/officeDocument/2006/relationships/image" Target="../media/image117.png"/><Relationship Id="rId2" Type="http://schemas.openxmlformats.org/officeDocument/2006/relationships/image" Target="../media/image1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6.png"/><Relationship Id="rId5" Type="http://schemas.openxmlformats.org/officeDocument/2006/relationships/image" Target="../media/image14.png"/><Relationship Id="rId10" Type="http://schemas.openxmlformats.org/officeDocument/2006/relationships/image" Target="../media/image120.png"/><Relationship Id="rId4" Type="http://schemas.openxmlformats.org/officeDocument/2006/relationships/image" Target="../media/image115.png"/><Relationship Id="rId9" Type="http://schemas.openxmlformats.org/officeDocument/2006/relationships/image" Target="../media/image119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4.png"/><Relationship Id="rId3" Type="http://schemas.openxmlformats.org/officeDocument/2006/relationships/image" Target="../media/image23.png"/><Relationship Id="rId7" Type="http://schemas.openxmlformats.org/officeDocument/2006/relationships/image" Target="../media/image117.png"/><Relationship Id="rId2" Type="http://schemas.openxmlformats.org/officeDocument/2006/relationships/image" Target="../media/image12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3.png"/><Relationship Id="rId5" Type="http://schemas.openxmlformats.org/officeDocument/2006/relationships/image" Target="../media/image46.png"/><Relationship Id="rId10" Type="http://schemas.openxmlformats.org/officeDocument/2006/relationships/image" Target="../media/image126.png"/><Relationship Id="rId4" Type="http://schemas.openxmlformats.org/officeDocument/2006/relationships/image" Target="../media/image122.png"/><Relationship Id="rId9" Type="http://schemas.openxmlformats.org/officeDocument/2006/relationships/image" Target="../media/image125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1.png"/><Relationship Id="rId3" Type="http://schemas.openxmlformats.org/officeDocument/2006/relationships/image" Target="../media/image127.png"/><Relationship Id="rId7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0.png"/><Relationship Id="rId5" Type="http://schemas.openxmlformats.org/officeDocument/2006/relationships/image" Target="../media/image129.png"/><Relationship Id="rId4" Type="http://schemas.openxmlformats.org/officeDocument/2006/relationships/image" Target="../media/image128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5.png"/><Relationship Id="rId3" Type="http://schemas.openxmlformats.org/officeDocument/2006/relationships/image" Target="../media/image23.png"/><Relationship Id="rId7" Type="http://schemas.openxmlformats.org/officeDocument/2006/relationships/image" Target="../media/image13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6.png"/><Relationship Id="rId5" Type="http://schemas.openxmlformats.org/officeDocument/2006/relationships/image" Target="../media/image133.png"/><Relationship Id="rId4" Type="http://schemas.openxmlformats.org/officeDocument/2006/relationships/image" Target="../media/image132.png"/><Relationship Id="rId9" Type="http://schemas.openxmlformats.org/officeDocument/2006/relationships/image" Target="../media/image136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2.png"/><Relationship Id="rId3" Type="http://schemas.openxmlformats.org/officeDocument/2006/relationships/image" Target="../media/image137.png"/><Relationship Id="rId7" Type="http://schemas.openxmlformats.org/officeDocument/2006/relationships/image" Target="../media/image14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0.png"/><Relationship Id="rId5" Type="http://schemas.openxmlformats.org/officeDocument/2006/relationships/image" Target="../media/image139.png"/><Relationship Id="rId10" Type="http://schemas.openxmlformats.org/officeDocument/2006/relationships/image" Target="../media/image144.png"/><Relationship Id="rId4" Type="http://schemas.openxmlformats.org/officeDocument/2006/relationships/image" Target="../media/image138.png"/><Relationship Id="rId9" Type="http://schemas.openxmlformats.org/officeDocument/2006/relationships/image" Target="../media/image14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5934075"/>
            <a:ext cx="10972800" cy="3905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44025" y="595312"/>
            <a:ext cx="2238375" cy="3333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15400" y="2128837"/>
            <a:ext cx="2667000" cy="26670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9505950" y="714375"/>
            <a:ext cx="95250" cy="95250"/>
          </a:xfrm>
          <a:prstGeom prst="roundRect">
            <a:avLst>
              <a:gd name="adj" fmla="val 50000"/>
            </a:avLst>
          </a:prstGeom>
          <a:solidFill>
            <a:srgbClr val="00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" y="533400"/>
            <a:ext cx="457200" cy="4572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77400" y="2705100"/>
            <a:ext cx="1143000" cy="11430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600" y="6134100"/>
            <a:ext cx="219075" cy="1905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344025" y="6134100"/>
            <a:ext cx="190500" cy="1905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219200" y="666750"/>
            <a:ext cx="30099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F1E42"/>
                </a:solidFill>
                <a:latin typeface="Orbitron"/>
              </a:rPr>
              <a:t>GOOGLE CHROME EXTENSION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96450" y="681037"/>
            <a:ext cx="1724025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FFFFFF"/>
                </a:solidFill>
                <a:latin typeface="Orbitron SemiBold"/>
              </a:rPr>
              <a:t>MANIFEST V3 CORE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2522190"/>
            <a:ext cx="8241030" cy="6799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5355"/>
              </a:lnSpc>
            </a:pPr>
            <a:r>
              <a:rPr sz="5100" b="0" i="0" u="none">
                <a:solidFill>
                  <a:srgbClr val="FFFFFF"/>
                </a:solidFill>
                <a:latin typeface="Orbitron Black"/>
              </a:rPr>
              <a:t>CLEAR </a:t>
            </a:r>
            <a:r>
              <a:rPr sz="5100" b="0" i="0" u="none">
                <a:solidFill>
                  <a:srgbClr val="FF1E42"/>
                </a:solidFill>
                <a:latin typeface="Orbitron Black"/>
              </a:rPr>
              <a:t>TEXT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3373635"/>
            <a:ext cx="78486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0F0FF"/>
                </a:solidFill>
                <a:latin typeface="Orbitron"/>
              </a:rPr>
              <a:t>Move Beyond Reading. Start Genuine Understanding.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3830835"/>
            <a:ext cx="647700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CBD5E1"/>
                </a:solidFill>
                <a:latin typeface="Inter"/>
              </a:rPr>
              <a:t>An intelligent, context-aware reading companion engineered for Google Chrome. Turn passive browsing into friction-free learning.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15425" y="4038600"/>
            <a:ext cx="226695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FFFFFF"/>
                </a:solidFill>
                <a:latin typeface="Orbitron"/>
              </a:rPr>
              <a:t>CONTEXT INTELLIGENCE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2975" y="6134100"/>
            <a:ext cx="2114550" cy="1962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0" i="0" u="none" dirty="0">
                <a:solidFill>
                  <a:srgbClr val="FFFFFF"/>
                </a:solidFill>
                <a:latin typeface="Inter SemiBold"/>
              </a:rPr>
              <a:t>Presenter: </a:t>
            </a:r>
            <a:r>
              <a:rPr sz="1275" b="0" i="0" u="none" dirty="0" err="1">
                <a:solidFill>
                  <a:srgbClr val="FFFFFF"/>
                </a:solidFill>
                <a:latin typeface="Inter SemiBold"/>
              </a:rPr>
              <a:t>Te</a:t>
            </a:r>
            <a:r>
              <a:rPr lang="en-IN" sz="1275" b="0" i="0" u="none" dirty="0" err="1">
                <a:solidFill>
                  <a:srgbClr val="FFFFFF"/>
                </a:solidFill>
                <a:latin typeface="Inter SemiBold"/>
              </a:rPr>
              <a:t>chX</a:t>
            </a:r>
            <a:endParaRPr sz="1275" b="0" i="0" u="none" dirty="0">
              <a:solidFill>
                <a:srgbClr val="FFFFFF"/>
              </a:solidFill>
              <a:latin typeface="Inter SemiBold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9629775" y="6134100"/>
            <a:ext cx="1952625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CBD5E1"/>
                </a:solidFill>
                <a:latin typeface="Inter"/>
              </a:rPr>
              <a:t>Zero-Disruption Browsing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23900" y="647700"/>
            <a:ext cx="228600" cy="2286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991725" y="3019425"/>
            <a:ext cx="514350" cy="5143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5838825"/>
            <a:ext cx="10972800" cy="5619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2157412"/>
            <a:ext cx="2614612" cy="2667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95662" y="2157412"/>
            <a:ext cx="2614612" cy="26670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1725" y="2157412"/>
            <a:ext cx="2614612" cy="26670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67787" y="2157412"/>
            <a:ext cx="2614612" cy="2667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695325"/>
            <a:ext cx="11521440" cy="4476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0" i="0" u="none">
                <a:solidFill>
                  <a:srgbClr val="FFFFFF"/>
                </a:solidFill>
                <a:latin typeface="Orbitron ExtraBold"/>
              </a:rPr>
              <a:t>The Modern Reading Bottleneck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7725" y="6019800"/>
            <a:ext cx="5105400" cy="200025"/>
          </a:xfrm>
          <a:prstGeom prst="rect">
            <a:avLst/>
          </a:prstGeom>
          <a:noFill/>
        </p:spPr>
        <p:txBody>
          <a:bodyPr wrap="square" lIns="30480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FFFFFF"/>
                </a:solidFill>
                <a:latin typeface="Inter SemiBold"/>
              </a:rPr>
              <a:t>Tab-hopping destroys cognitive flow and degrades retention.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" y="461962"/>
            <a:ext cx="171450" cy="1714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5825" y="2462212"/>
            <a:ext cx="457200" cy="4572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71887" y="2462212"/>
            <a:ext cx="457200" cy="4572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57950" y="2462212"/>
            <a:ext cx="457200" cy="4572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244012" y="2462212"/>
            <a:ext cx="457200" cy="4572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7725" y="6019800"/>
            <a:ext cx="190500" cy="1905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76300" y="457200"/>
            <a:ext cx="3014662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FF1E42"/>
                </a:solidFill>
                <a:latin typeface="Orbitron"/>
              </a:rPr>
              <a:t>READING FRICTION — OVERVIEW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09650" y="2586037"/>
            <a:ext cx="209550" cy="20955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795712" y="2586037"/>
            <a:ext cx="209550" cy="20955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553200" y="2586037"/>
            <a:ext cx="266700" cy="20955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367837" y="2586037"/>
            <a:ext cx="209550" cy="20955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85825" y="3801665"/>
            <a:ext cx="216527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FFFFF"/>
                </a:solidFill>
                <a:latin typeface="Orbitron"/>
              </a:rPr>
              <a:t>Fragmented Tabs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5825" y="4106465"/>
            <a:ext cx="2062162" cy="4417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sz="1200" b="0" i="0" u="none">
                <a:solidFill>
                  <a:srgbClr val="CBD5E1"/>
                </a:solidFill>
                <a:latin typeface="Inter"/>
              </a:rPr>
              <a:t>Constant tab switching breaks reading momentum.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71887" y="3801665"/>
            <a:ext cx="216527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FFFFF"/>
                </a:solidFill>
                <a:latin typeface="Orbitron"/>
              </a:rPr>
              <a:t>Context Loss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71887" y="4106465"/>
            <a:ext cx="2062162" cy="4417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sz="1200" b="0" i="0" u="none">
                <a:solidFill>
                  <a:srgbClr val="CBD5E1"/>
                </a:solidFill>
                <a:latin typeface="Inter"/>
              </a:rPr>
              <a:t>Application switching degrades memory focus.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7950" y="3580804"/>
            <a:ext cx="2165270" cy="4154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endParaRPr lang="en-IN" sz="1350" b="1" i="0" u="none" dirty="0">
              <a:solidFill>
                <a:srgbClr val="FFFFFF"/>
              </a:solidFill>
              <a:latin typeface="Orbitron"/>
            </a:endParaRPr>
          </a:p>
          <a:p>
            <a:pPr algn="l"/>
            <a:r>
              <a:rPr sz="1350" b="1" i="0" u="none" dirty="0">
                <a:solidFill>
                  <a:srgbClr val="FFFFFF"/>
                </a:solidFill>
                <a:latin typeface="Orbitron"/>
              </a:rPr>
              <a:t>Language Barriers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57950" y="3885604"/>
            <a:ext cx="2062162" cy="6625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39"/>
              </a:lnSpc>
            </a:pPr>
            <a:endParaRPr lang="en-IN" sz="1200" b="0" i="0" u="none" dirty="0">
              <a:solidFill>
                <a:srgbClr val="CBD5E1"/>
              </a:solidFill>
              <a:latin typeface="Inter"/>
            </a:endParaRPr>
          </a:p>
          <a:p>
            <a:pPr algn="l">
              <a:lnSpc>
                <a:spcPts val="1739"/>
              </a:lnSpc>
            </a:pPr>
            <a:r>
              <a:rPr sz="1200" b="0" i="0" u="none" dirty="0">
                <a:solidFill>
                  <a:srgbClr val="CBD5E1"/>
                </a:solidFill>
                <a:latin typeface="Inter"/>
              </a:rPr>
              <a:t>Technical jargon slows down research comprehension.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44012" y="3801665"/>
            <a:ext cx="216527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FFFFF"/>
                </a:solidFill>
                <a:latin typeface="Orbitron"/>
              </a:rPr>
              <a:t>Lost Vocabulary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44012" y="4106465"/>
            <a:ext cx="2062162" cy="4417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sz="1200" b="0" i="0" u="none">
                <a:solidFill>
                  <a:srgbClr val="CBD5E1"/>
                </a:solidFill>
                <a:latin typeface="Inter"/>
              </a:rPr>
              <a:t>Manual note-taking is slow; terms are forgotten.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5886450"/>
            <a:ext cx="10972800" cy="5143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2038350"/>
            <a:ext cx="4904630" cy="29527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85680" y="2419350"/>
            <a:ext cx="1851273" cy="21907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08403" y="2419350"/>
            <a:ext cx="1851273" cy="21907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31126" y="2419350"/>
            <a:ext cx="1851273" cy="21907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695325"/>
            <a:ext cx="11521440" cy="4476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0" i="0" u="none">
                <a:solidFill>
                  <a:srgbClr val="FFFFFF"/>
                </a:solidFill>
                <a:latin typeface="Orbitron ExtraBold"/>
              </a:rPr>
              <a:t>Fragmented Tab Context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7725" y="6048375"/>
            <a:ext cx="42672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CBD5E1"/>
                </a:solidFill>
                <a:latin typeface="Inter"/>
              </a:rPr>
              <a:t>Eliminating tab fragmentation protects natural reading flow.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600" y="461962"/>
            <a:ext cx="171450" cy="1714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33450" y="2362200"/>
            <a:ext cx="571500" cy="5715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885705" y="2619375"/>
            <a:ext cx="361950" cy="3619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908428" y="2619375"/>
            <a:ext cx="361950" cy="3619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931151" y="2619375"/>
            <a:ext cx="361950" cy="3619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76300" y="457200"/>
            <a:ext cx="274320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FF1E42"/>
                </a:solidFill>
                <a:latin typeface="Orbitron"/>
              </a:rPr>
              <a:t>READING FRICTION — FOCUS 1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76325" y="2505075"/>
            <a:ext cx="285750" cy="2857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980955" y="2714625"/>
            <a:ext cx="171450" cy="17145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979866" y="2714625"/>
            <a:ext cx="219075" cy="17145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026401" y="2714625"/>
            <a:ext cx="171450" cy="17145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933450" y="3505200"/>
            <a:ext cx="21717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FF1E42"/>
                </a:solidFill>
                <a:latin typeface="Orbitron"/>
              </a:rPr>
              <a:t>PRIMARY FRICTION POINT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3450" y="3752850"/>
            <a:ext cx="4469777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0" i="0" u="none">
                <a:solidFill>
                  <a:srgbClr val="FFFFFF"/>
                </a:solidFill>
                <a:latin typeface="Orbitron ExtraBold"/>
              </a:rPr>
              <a:t>Fragmented Tabs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3450" y="4152900"/>
            <a:ext cx="425693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FFFFFF"/>
                </a:solidFill>
                <a:latin typeface="Inter"/>
              </a:rPr>
              <a:t>Constant tab-switching to lookup terms interrupts momentum and causes instant task decay.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85705" y="3886200"/>
            <a:ext cx="1523784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CBD5E1"/>
                </a:solidFill>
                <a:latin typeface="Orbitron"/>
              </a:rPr>
              <a:t>Context Loss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85705" y="4105275"/>
            <a:ext cx="1451223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Inter"/>
              </a:rPr>
              <a:t>App switching degrades memory.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08428" y="3857625"/>
            <a:ext cx="1523784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CBD5E1"/>
                </a:solidFill>
                <a:latin typeface="Orbitron"/>
              </a:rPr>
              <a:t>Language Barriers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08428" y="4257675"/>
            <a:ext cx="1451223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Inter"/>
              </a:rPr>
              <a:t>Jargon halts readers.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31151" y="3886200"/>
            <a:ext cx="1523784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CBD5E1"/>
                </a:solidFill>
                <a:latin typeface="Orbitron"/>
              </a:rPr>
              <a:t>Lost Vocabulary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31151" y="4105275"/>
            <a:ext cx="1451223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Inter"/>
              </a:rPr>
              <a:t>Terms forgotten instantly.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5886450"/>
            <a:ext cx="10972800" cy="5143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2419350"/>
            <a:ext cx="1851273" cy="21907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32323" y="2038350"/>
            <a:ext cx="4904630" cy="29527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08403" y="2419350"/>
            <a:ext cx="1851273" cy="21907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31126" y="2419350"/>
            <a:ext cx="1851273" cy="21907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695325"/>
            <a:ext cx="11521440" cy="4476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0" i="0" u="none">
                <a:solidFill>
                  <a:srgbClr val="FFFFFF"/>
                </a:solidFill>
                <a:latin typeface="Orbitron ExtraBold"/>
              </a:rPr>
              <a:t>Cognitive Memory Loss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7725" y="6048375"/>
            <a:ext cx="4238625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CBD5E1"/>
                </a:solidFill>
                <a:latin typeface="Inter"/>
              </a:rPr>
              <a:t>In-line retention removes mental fatigue during deep study.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600" y="461962"/>
            <a:ext cx="171450" cy="1714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9625" y="2619375"/>
            <a:ext cx="361950" cy="3619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956173" y="2362200"/>
            <a:ext cx="571500" cy="5715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908428" y="2619375"/>
            <a:ext cx="361950" cy="3619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931151" y="2619375"/>
            <a:ext cx="361950" cy="3619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76300" y="457200"/>
            <a:ext cx="280035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FF1E42"/>
                </a:solidFill>
                <a:latin typeface="Orbitron"/>
              </a:rPr>
              <a:t>READING FRICTION — FOCUS 2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04875" y="2714625"/>
            <a:ext cx="171450" cy="1714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099048" y="2505075"/>
            <a:ext cx="285750" cy="28575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979866" y="2714625"/>
            <a:ext cx="219075" cy="17145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026401" y="2714625"/>
            <a:ext cx="171450" cy="17145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809625" y="3886200"/>
            <a:ext cx="1523784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CBD5E1"/>
                </a:solidFill>
                <a:latin typeface="Orbitron"/>
              </a:rPr>
              <a:t>Fragmented Tabs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9625" y="4105275"/>
            <a:ext cx="1451223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Inter"/>
              </a:rPr>
              <a:t>Tab switching breaks focus.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56173" y="3248025"/>
            <a:ext cx="19812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FF1E42"/>
                </a:solidFill>
                <a:latin typeface="Orbitron"/>
              </a:rPr>
              <a:t>COGNITIVE OVERLOAD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56173" y="3495675"/>
            <a:ext cx="4469777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0" i="0" u="none">
                <a:solidFill>
                  <a:srgbClr val="FFFFFF"/>
                </a:solidFill>
                <a:latin typeface="Orbitron ExtraBold"/>
              </a:rPr>
              <a:t>Context Loss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56173" y="3895725"/>
            <a:ext cx="4256930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FFFFFF"/>
                </a:solidFill>
                <a:latin typeface="Inter"/>
              </a:rPr>
              <a:t>Switching windows degrades memory focus, forcing readers to restart paragraph analysis from scratch.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08428" y="3705225"/>
            <a:ext cx="1523784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CBD5E1"/>
                </a:solidFill>
                <a:latin typeface="Orbitron"/>
              </a:rPr>
              <a:t>Language Barriers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08428" y="4105275"/>
            <a:ext cx="1451223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Inter"/>
              </a:rPr>
              <a:t>Jargon halts comprehension.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31151" y="3886200"/>
            <a:ext cx="1523784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CBD5E1"/>
                </a:solidFill>
                <a:latin typeface="Orbitron"/>
              </a:rPr>
              <a:t>Lost Vocabulary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31151" y="4105275"/>
            <a:ext cx="1451223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Inter"/>
              </a:rPr>
              <a:t>Looked-up terms forgotten.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5886450"/>
            <a:ext cx="10972800" cy="5143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2419350"/>
            <a:ext cx="1851273" cy="21907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32323" y="2419350"/>
            <a:ext cx="1851273" cy="21907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55046" y="2038350"/>
            <a:ext cx="4904630" cy="29527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31126" y="2419350"/>
            <a:ext cx="1851273" cy="21907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695325"/>
            <a:ext cx="11521440" cy="4476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0" i="0" u="none">
                <a:solidFill>
                  <a:srgbClr val="FFFFFF"/>
                </a:solidFill>
                <a:latin typeface="Orbitron ExtraBold"/>
              </a:rPr>
              <a:t>Language &amp; Technical Barriers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7725" y="6048375"/>
            <a:ext cx="428625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CBD5E1"/>
                </a:solidFill>
                <a:latin typeface="Inter"/>
              </a:rPr>
              <a:t>Universal decoding enables effortless academic immersion.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600" y="461962"/>
            <a:ext cx="171450" cy="1714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9625" y="2619375"/>
            <a:ext cx="361950" cy="3619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832348" y="2619375"/>
            <a:ext cx="361950" cy="3619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978896" y="2362200"/>
            <a:ext cx="571500" cy="5715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931151" y="2619375"/>
            <a:ext cx="361950" cy="3619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76300" y="457200"/>
            <a:ext cx="280035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FF1E42"/>
                </a:solidFill>
                <a:latin typeface="Orbitron"/>
              </a:rPr>
              <a:t>READING FRICTION — FOCUS 3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04875" y="2714625"/>
            <a:ext cx="171450" cy="1714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927598" y="2714625"/>
            <a:ext cx="171450" cy="17145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083671" y="2505075"/>
            <a:ext cx="361950" cy="28575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026401" y="2714625"/>
            <a:ext cx="171450" cy="17145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809625" y="3886200"/>
            <a:ext cx="1523784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CBD5E1"/>
                </a:solidFill>
                <a:latin typeface="Orbitron"/>
              </a:rPr>
              <a:t>Fragmented Tabs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9625" y="4105275"/>
            <a:ext cx="1451223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Inter"/>
              </a:rPr>
              <a:t>Tab switching breaks focus.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32348" y="3886200"/>
            <a:ext cx="1523784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CBD5E1"/>
                </a:solidFill>
                <a:latin typeface="Orbitron"/>
              </a:rPr>
              <a:t>Context Loss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32348" y="4105275"/>
            <a:ext cx="1451223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Inter"/>
              </a:rPr>
              <a:t>App switching degrades memory.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78896" y="3505200"/>
            <a:ext cx="1914525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FF1E42"/>
                </a:solidFill>
                <a:latin typeface="Orbitron"/>
              </a:rPr>
              <a:t>COMPREHENSION GAP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78896" y="3752850"/>
            <a:ext cx="4469777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0" i="0" u="none">
                <a:solidFill>
                  <a:srgbClr val="FFFFFF"/>
                </a:solidFill>
                <a:latin typeface="Orbitron ExtraBold"/>
              </a:rPr>
              <a:t>Language &amp; Jargon Barriers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78896" y="4152900"/>
            <a:ext cx="425693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FFFFFF"/>
                </a:solidFill>
                <a:latin typeface="Inter"/>
              </a:rPr>
              <a:t>Dense technical terminology and non-native languages severely bottleneck research speed.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31151" y="3886200"/>
            <a:ext cx="1523784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CBD5E1"/>
                </a:solidFill>
                <a:latin typeface="Orbitron"/>
              </a:rPr>
              <a:t>Lost Vocabulary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31151" y="4105275"/>
            <a:ext cx="1451223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Inter"/>
              </a:rPr>
              <a:t>Looked-up terms forgotten.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5886450"/>
            <a:ext cx="10972800" cy="5143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2419350"/>
            <a:ext cx="1851273" cy="21907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32323" y="2419350"/>
            <a:ext cx="1851273" cy="21907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55046" y="2419350"/>
            <a:ext cx="1851273" cy="21907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77769" y="2038350"/>
            <a:ext cx="4904630" cy="29527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695325"/>
            <a:ext cx="11521440" cy="4476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0" i="0" u="none">
                <a:solidFill>
                  <a:srgbClr val="FFFFFF"/>
                </a:solidFill>
                <a:latin typeface="Orbitron ExtraBold"/>
              </a:rPr>
              <a:t>Inefficient Vocabulary Tracking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7725" y="6048375"/>
            <a:ext cx="56388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CBD5E1"/>
                </a:solidFill>
                <a:latin typeface="Inter"/>
              </a:rPr>
              <a:t>Automated word tracking transforms passive lookups into permanent mastery.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600" y="461962"/>
            <a:ext cx="171450" cy="1714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9625" y="2619375"/>
            <a:ext cx="361950" cy="3619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832348" y="2619375"/>
            <a:ext cx="361950" cy="3619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855071" y="2619375"/>
            <a:ext cx="361950" cy="3619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001619" y="2362200"/>
            <a:ext cx="571500" cy="5715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76300" y="457200"/>
            <a:ext cx="2790825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FF1E42"/>
                </a:solidFill>
                <a:latin typeface="Orbitron"/>
              </a:rPr>
              <a:t>READING FRICTION — FOCUS 4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04875" y="2714625"/>
            <a:ext cx="171450" cy="1714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927598" y="2714625"/>
            <a:ext cx="171450" cy="17145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926508" y="2714625"/>
            <a:ext cx="219075" cy="17145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144494" y="2505075"/>
            <a:ext cx="285750" cy="28575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809625" y="3886200"/>
            <a:ext cx="1523784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CBD5E1"/>
                </a:solidFill>
                <a:latin typeface="Orbitron"/>
              </a:rPr>
              <a:t>Fragmented Tabs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9625" y="4105275"/>
            <a:ext cx="1451223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Inter"/>
              </a:rPr>
              <a:t>Tab switching breaks focus.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32348" y="3886200"/>
            <a:ext cx="1523784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CBD5E1"/>
                </a:solidFill>
                <a:latin typeface="Orbitron"/>
              </a:rPr>
              <a:t>Context Loss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32348" y="4105275"/>
            <a:ext cx="1451223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Inter"/>
              </a:rPr>
              <a:t>App switching degrades memory.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55071" y="3857625"/>
            <a:ext cx="1523784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CBD5E1"/>
                </a:solidFill>
                <a:latin typeface="Orbitron"/>
              </a:rPr>
              <a:t>Language Barriers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55071" y="4257675"/>
            <a:ext cx="1451223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Inter"/>
              </a:rPr>
              <a:t>Jargon halts readers.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01619" y="3505200"/>
            <a:ext cx="150495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FF1E42"/>
                </a:solidFill>
                <a:latin typeface="Orbitron"/>
              </a:rPr>
              <a:t>RETENTION LEAK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01619" y="3752850"/>
            <a:ext cx="4469777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0" i="0" u="none">
                <a:solidFill>
                  <a:srgbClr val="FFFFFF"/>
                </a:solidFill>
                <a:latin typeface="Orbitron ExtraBold"/>
              </a:rPr>
              <a:t>Lost Vocabulary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01619" y="4152900"/>
            <a:ext cx="425693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FFFFFF"/>
                </a:solidFill>
                <a:latin typeface="Inter"/>
              </a:rPr>
              <a:t>Manual note-taking takes too much time; looked-up words fade without deliberate tracking.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354B49-7C3D-B9A3-E6A4-F79E5A26DA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C17B92BE-295A-0236-3BBC-F16B5E6E3D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>
            <a:extLst>
              <a:ext uri="{FF2B5EF4-FFF2-40B4-BE49-F238E27FC236}">
                <a16:creationId xmlns:a16="http://schemas.microsoft.com/office/drawing/2014/main" id="{C101F0AB-1A21-E08E-7336-DBCF92857E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5781675"/>
            <a:ext cx="10972800" cy="61912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74ECED8-F5F2-0B0C-5834-F0AF0B2D5C2F}"/>
              </a:ext>
            </a:extLst>
          </p:cNvPr>
          <p:cNvSpPr txBox="1"/>
          <p:nvPr/>
        </p:nvSpPr>
        <p:spPr>
          <a:xfrm>
            <a:off x="609600" y="695325"/>
            <a:ext cx="11521440" cy="4476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0" i="0" u="none">
                <a:solidFill>
                  <a:srgbClr val="FFFFFF"/>
                </a:solidFill>
                <a:latin typeface="Orbitron ExtraBold"/>
              </a:rPr>
              <a:t>Introducing Clear Text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4E1626D-6887-44B9-CEEB-555F2DD7FB5A}"/>
              </a:ext>
            </a:extLst>
          </p:cNvPr>
          <p:cNvSpPr txBox="1"/>
          <p:nvPr/>
        </p:nvSpPr>
        <p:spPr>
          <a:xfrm>
            <a:off x="885825" y="5981700"/>
            <a:ext cx="6600825" cy="219075"/>
          </a:xfrm>
          <a:prstGeom prst="rect">
            <a:avLst/>
          </a:prstGeom>
          <a:noFill/>
        </p:spPr>
        <p:txBody>
          <a:bodyPr wrap="square" lIns="32385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FFFFFF"/>
                </a:solidFill>
                <a:latin typeface="Inter SemiBold"/>
              </a:rPr>
              <a:t>A unified reading ecosystem that meets the reader exactly where they are.</a:t>
            </a:r>
          </a:p>
        </p:txBody>
      </p:sp>
      <p:pic>
        <p:nvPicPr>
          <p:cNvPr id="9" name="Picture 8" descr="image.png">
            <a:extLst>
              <a:ext uri="{FF2B5EF4-FFF2-40B4-BE49-F238E27FC236}">
                <a16:creationId xmlns:a16="http://schemas.microsoft.com/office/drawing/2014/main" id="{2247C3BD-1F71-9BC8-0D68-6BDDBAD3BB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461962"/>
            <a:ext cx="171450" cy="171450"/>
          </a:xfrm>
          <a:prstGeom prst="rect">
            <a:avLst/>
          </a:prstGeom>
        </p:spPr>
      </p:pic>
      <p:pic>
        <p:nvPicPr>
          <p:cNvPr id="13" name="Picture 12" descr="image.png">
            <a:extLst>
              <a:ext uri="{FF2B5EF4-FFF2-40B4-BE49-F238E27FC236}">
                <a16:creationId xmlns:a16="http://schemas.microsoft.com/office/drawing/2014/main" id="{F203D5E2-5631-EE00-1EA9-5C861B1D6FB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5825" y="5981700"/>
            <a:ext cx="209550" cy="20955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7AF677D9-A324-C390-74A5-0D69BC1A77F7}"/>
              </a:ext>
            </a:extLst>
          </p:cNvPr>
          <p:cNvSpPr txBox="1"/>
          <p:nvPr/>
        </p:nvSpPr>
        <p:spPr>
          <a:xfrm>
            <a:off x="876300" y="457200"/>
            <a:ext cx="137160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0F0FF"/>
                </a:solidFill>
                <a:latin typeface="Orbitron"/>
              </a:rPr>
              <a:t>THE SOLUTION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833E618F-81A4-ECB4-EA36-B8D414A16DC2}"/>
              </a:ext>
            </a:extLst>
          </p:cNvPr>
          <p:cNvGrpSpPr/>
          <p:nvPr/>
        </p:nvGrpSpPr>
        <p:grpSpPr>
          <a:xfrm>
            <a:off x="603944" y="2752742"/>
            <a:ext cx="2524817" cy="1833526"/>
            <a:chOff x="609600" y="2128837"/>
            <a:chExt cx="3505200" cy="2676184"/>
          </a:xfrm>
        </p:grpSpPr>
        <p:pic>
          <p:nvPicPr>
            <p:cNvPr id="10" name="Picture 9" descr="image.png">
              <a:extLst>
                <a:ext uri="{FF2B5EF4-FFF2-40B4-BE49-F238E27FC236}">
                  <a16:creationId xmlns:a16="http://schemas.microsoft.com/office/drawing/2014/main" id="{63CC9D95-E492-9FBB-86FC-39780BCC158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85825" y="2405062"/>
              <a:ext cx="476250" cy="476250"/>
            </a:xfrm>
            <a:prstGeom prst="rect">
              <a:avLst/>
            </a:prstGeom>
          </p:spPr>
        </p:pic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6ED62F43-882F-E1B8-C7C3-605BCA6FC904}"/>
                </a:ext>
              </a:extLst>
            </p:cNvPr>
            <p:cNvGrpSpPr/>
            <p:nvPr/>
          </p:nvGrpSpPr>
          <p:grpSpPr>
            <a:xfrm>
              <a:off x="609600" y="2128837"/>
              <a:ext cx="3505200" cy="2676184"/>
              <a:chOff x="609600" y="2128837"/>
              <a:chExt cx="3505200" cy="2676184"/>
            </a:xfrm>
          </p:grpSpPr>
          <p:pic>
            <p:nvPicPr>
              <p:cNvPr id="4" name="Picture 3" descr="image.png">
                <a:extLst>
                  <a:ext uri="{FF2B5EF4-FFF2-40B4-BE49-F238E27FC236}">
                    <a16:creationId xmlns:a16="http://schemas.microsoft.com/office/drawing/2014/main" id="{B31455C4-9BA7-00AC-E56E-FC6DC3157E7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09600" y="2128837"/>
                <a:ext cx="3505200" cy="2667000"/>
              </a:xfrm>
              <a:prstGeom prst="rect">
                <a:avLst/>
              </a:prstGeom>
            </p:spPr>
          </p:pic>
          <p:pic>
            <p:nvPicPr>
              <p:cNvPr id="15" name="Picture 14" descr="image.png">
                <a:extLst>
                  <a:ext uri="{FF2B5EF4-FFF2-40B4-BE49-F238E27FC236}">
                    <a16:creationId xmlns:a16="http://schemas.microsoft.com/office/drawing/2014/main" id="{F78E3A6F-8FE3-40B1-6754-3AF569B6909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023937" y="2528887"/>
                <a:ext cx="200025" cy="228600"/>
              </a:xfrm>
              <a:prstGeom prst="rect">
                <a:avLst/>
              </a:prstGeom>
            </p:spPr>
          </p:pic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4CAE4C66-D47D-566D-F36F-277433291CFF}"/>
                  </a:ext>
                </a:extLst>
              </p:cNvPr>
              <p:cNvSpPr txBox="1"/>
              <p:nvPr/>
            </p:nvSpPr>
            <p:spPr>
              <a:xfrm>
                <a:off x="885826" y="3482130"/>
                <a:ext cx="3100387" cy="336919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/>
                <a:r>
                  <a:rPr sz="1500" b="1" i="0" u="none" dirty="0">
                    <a:solidFill>
                      <a:srgbClr val="FFFFFF"/>
                    </a:solidFill>
                    <a:latin typeface="Orbitron"/>
                  </a:rPr>
                  <a:t>Context-Aware Popup</a:t>
                </a:r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B57BE0D1-224C-2FDB-F0EB-DC750B135D0A}"/>
                  </a:ext>
                </a:extLst>
              </p:cNvPr>
              <p:cNvSpPr txBox="1"/>
              <p:nvPr/>
            </p:nvSpPr>
            <p:spPr>
              <a:xfrm>
                <a:off x="885826" y="3815507"/>
                <a:ext cx="2952750" cy="989514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>
                  <a:lnSpc>
                    <a:spcPts val="1848"/>
                  </a:lnSpc>
                </a:pPr>
                <a:r>
                  <a:rPr lang="en-US" sz="1275" b="0" i="0" u="none" dirty="0">
                    <a:solidFill>
                      <a:srgbClr val="CBD5E1"/>
                    </a:solidFill>
                    <a:latin typeface="Inter"/>
                  </a:rPr>
                  <a:t>Lightweight Chrome extension operating directly inside your active tab window.</a:t>
                </a:r>
              </a:p>
            </p:txBody>
          </p:sp>
        </p:grp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137A0839-130B-167E-CE10-58861E50BCF5}"/>
              </a:ext>
            </a:extLst>
          </p:cNvPr>
          <p:cNvGrpSpPr/>
          <p:nvPr/>
        </p:nvGrpSpPr>
        <p:grpSpPr>
          <a:xfrm>
            <a:off x="3477044" y="1211695"/>
            <a:ext cx="5657129" cy="4369955"/>
            <a:chOff x="4343400" y="2108968"/>
            <a:chExt cx="3552565" cy="2640063"/>
          </a:xfrm>
        </p:grpSpPr>
        <p:pic>
          <p:nvPicPr>
            <p:cNvPr id="11" name="Picture 10" descr="image.png">
              <a:extLst>
                <a:ext uri="{FF2B5EF4-FFF2-40B4-BE49-F238E27FC236}">
                  <a16:creationId xmlns:a16="http://schemas.microsoft.com/office/drawing/2014/main" id="{D7340837-0DFC-DCF3-106D-FE449123A0A0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4619625" y="2405062"/>
              <a:ext cx="476250" cy="476250"/>
            </a:xfrm>
            <a:prstGeom prst="rect">
              <a:avLst/>
            </a:prstGeom>
          </p:spPr>
        </p:pic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A2C55C9E-4D98-64E7-635E-C42208E9D473}"/>
                </a:ext>
              </a:extLst>
            </p:cNvPr>
            <p:cNvGrpSpPr/>
            <p:nvPr/>
          </p:nvGrpSpPr>
          <p:grpSpPr>
            <a:xfrm>
              <a:off x="4343400" y="2108968"/>
              <a:ext cx="3552565" cy="2640063"/>
              <a:chOff x="4343400" y="2128837"/>
              <a:chExt cx="3505200" cy="2667000"/>
            </a:xfrm>
          </p:grpSpPr>
          <p:pic>
            <p:nvPicPr>
              <p:cNvPr id="5" name="Picture 4" descr="image.png">
                <a:extLst>
                  <a:ext uri="{FF2B5EF4-FFF2-40B4-BE49-F238E27FC236}">
                    <a16:creationId xmlns:a16="http://schemas.microsoft.com/office/drawing/2014/main" id="{70AF4B2E-1809-32A2-F686-539E607AE73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343400" y="2128837"/>
                <a:ext cx="3505200" cy="2667000"/>
              </a:xfrm>
              <a:prstGeom prst="rect">
                <a:avLst/>
              </a:prstGeom>
            </p:spPr>
          </p:pic>
          <p:pic>
            <p:nvPicPr>
              <p:cNvPr id="16" name="Picture 15" descr="image.png">
                <a:extLst>
                  <a:ext uri="{FF2B5EF4-FFF2-40B4-BE49-F238E27FC236}">
                    <a16:creationId xmlns:a16="http://schemas.microsoft.com/office/drawing/2014/main" id="{B08E6387-70A9-A173-1F8D-F72B3F6D95C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4743450" y="2528887"/>
                <a:ext cx="228600" cy="228600"/>
              </a:xfrm>
              <a:prstGeom prst="rect">
                <a:avLst/>
              </a:prstGeom>
            </p:spPr>
          </p:pic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8D1CA5AE-D55B-AE5A-C131-DF98BA8D12B6}"/>
                  </a:ext>
                </a:extLst>
              </p:cNvPr>
              <p:cNvSpPr txBox="1"/>
              <p:nvPr/>
            </p:nvSpPr>
            <p:spPr>
              <a:xfrm>
                <a:off x="4615942" y="3247067"/>
                <a:ext cx="2557720" cy="601079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/>
                <a:r>
                  <a:rPr sz="3200" b="1" i="0" u="none" dirty="0">
                    <a:solidFill>
                      <a:srgbClr val="FFFFFF"/>
                    </a:solidFill>
                    <a:latin typeface="Orbitron"/>
                  </a:rPr>
                  <a:t>Scale-Adaptive Intelligence</a:t>
                </a:r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245E68FA-A3FF-E846-2D5B-DCF3540A09A1}"/>
                  </a:ext>
                </a:extLst>
              </p:cNvPr>
              <p:cNvSpPr txBox="1"/>
              <p:nvPr/>
            </p:nvSpPr>
            <p:spPr>
              <a:xfrm>
                <a:off x="4615942" y="3890071"/>
                <a:ext cx="2952750" cy="281756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>
                  <a:lnSpc>
                    <a:spcPts val="1848"/>
                  </a:lnSpc>
                </a:pPr>
                <a:r>
                  <a:rPr sz="1600" b="0" i="0" u="none" dirty="0">
                    <a:solidFill>
                      <a:srgbClr val="CBD5E1"/>
                    </a:solidFill>
                    <a:latin typeface="Inter"/>
                  </a:rPr>
                  <a:t>Dynamically shifts toolkits based on highlighted text length.</a:t>
                </a:r>
              </a:p>
            </p:txBody>
          </p:sp>
        </p:grp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D1746CBB-3504-9865-D357-7D0889487E50}"/>
              </a:ext>
            </a:extLst>
          </p:cNvPr>
          <p:cNvGrpSpPr/>
          <p:nvPr/>
        </p:nvGrpSpPr>
        <p:grpSpPr>
          <a:xfrm>
            <a:off x="9482456" y="2757487"/>
            <a:ext cx="2524816" cy="1827234"/>
            <a:chOff x="8077200" y="2128837"/>
            <a:chExt cx="3505200" cy="2667000"/>
          </a:xfrm>
        </p:grpSpPr>
        <p:pic>
          <p:nvPicPr>
            <p:cNvPr id="17" name="Picture 16" descr="image.png">
              <a:extLst>
                <a:ext uri="{FF2B5EF4-FFF2-40B4-BE49-F238E27FC236}">
                  <a16:creationId xmlns:a16="http://schemas.microsoft.com/office/drawing/2014/main" id="{85C86B77-86CD-4ED4-8007-C6E5FAE780F2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8491537" y="2528887"/>
              <a:ext cx="200025" cy="228600"/>
            </a:xfrm>
            <a:prstGeom prst="rect">
              <a:avLst/>
            </a:prstGeom>
          </p:spPr>
        </p:pic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0DA1CF13-C1FC-880E-B34A-27D32928BE10}"/>
                </a:ext>
              </a:extLst>
            </p:cNvPr>
            <p:cNvGrpSpPr/>
            <p:nvPr/>
          </p:nvGrpSpPr>
          <p:grpSpPr>
            <a:xfrm>
              <a:off x="8077200" y="2128837"/>
              <a:ext cx="3505200" cy="2667000"/>
              <a:chOff x="8077200" y="2128837"/>
              <a:chExt cx="3505200" cy="2667000"/>
            </a:xfrm>
          </p:grpSpPr>
          <p:pic>
            <p:nvPicPr>
              <p:cNvPr id="6" name="Picture 5" descr="image.png">
                <a:extLst>
                  <a:ext uri="{FF2B5EF4-FFF2-40B4-BE49-F238E27FC236}">
                    <a16:creationId xmlns:a16="http://schemas.microsoft.com/office/drawing/2014/main" id="{905385C6-EA78-3FB0-CA5E-63EE7F8B81B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077200" y="2128837"/>
                <a:ext cx="3505200" cy="2667000"/>
              </a:xfrm>
              <a:prstGeom prst="rect">
                <a:avLst/>
              </a:prstGeom>
            </p:spPr>
          </p:pic>
          <p:pic>
            <p:nvPicPr>
              <p:cNvPr id="12" name="Picture 11" descr="image.png">
                <a:extLst>
                  <a:ext uri="{FF2B5EF4-FFF2-40B4-BE49-F238E27FC236}">
                    <a16:creationId xmlns:a16="http://schemas.microsoft.com/office/drawing/2014/main" id="{38A11ADA-76C0-92A9-9BFF-E4D25CE50F0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8353425" y="2405062"/>
                <a:ext cx="476250" cy="476250"/>
              </a:xfrm>
              <a:prstGeom prst="rect">
                <a:avLst/>
              </a:prstGeom>
            </p:spPr>
          </p:pic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C9E3C47E-D1D5-6C6E-4B75-559E22DD3087}"/>
                  </a:ext>
                </a:extLst>
              </p:cNvPr>
              <p:cNvSpPr txBox="1"/>
              <p:nvPr/>
            </p:nvSpPr>
            <p:spPr>
              <a:xfrm>
                <a:off x="8353425" y="3716833"/>
                <a:ext cx="3100387" cy="238125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/>
                <a:r>
                  <a:rPr sz="1500" b="1" i="0" u="none">
                    <a:solidFill>
                      <a:srgbClr val="FFFFFF"/>
                    </a:solidFill>
                    <a:latin typeface="Orbitron"/>
                  </a:rPr>
                  <a:t>Zero Disruption</a:t>
                </a: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2BE17C8B-E931-53BB-C8B2-0D0AA1E5B4D0}"/>
                  </a:ext>
                </a:extLst>
              </p:cNvPr>
              <p:cNvSpPr txBox="1"/>
              <p:nvPr/>
            </p:nvSpPr>
            <p:spPr>
              <a:xfrm>
                <a:off x="8353425" y="4050208"/>
                <a:ext cx="2952750" cy="469403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>
                  <a:lnSpc>
                    <a:spcPts val="1848"/>
                  </a:lnSpc>
                </a:pPr>
                <a:r>
                  <a:rPr sz="1275" b="0" i="0" u="none">
                    <a:solidFill>
                      <a:srgbClr val="CBD5E1"/>
                    </a:solidFill>
                    <a:latin typeface="Inter"/>
                  </a:rPr>
                  <a:t>Eliminates copy-paste steps and external tools completely.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39294504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D46266-4A9C-45FF-CC99-834BD19D0C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E0C99546-4938-07B3-1929-4612258069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>
            <a:extLst>
              <a:ext uri="{FF2B5EF4-FFF2-40B4-BE49-F238E27FC236}">
                <a16:creationId xmlns:a16="http://schemas.microsoft.com/office/drawing/2014/main" id="{794E45A0-5FF9-8C48-D030-CF0B21FD07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5781675"/>
            <a:ext cx="10972800" cy="61912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B0175A6-039E-7E25-B438-714E9D951B5A}"/>
              </a:ext>
            </a:extLst>
          </p:cNvPr>
          <p:cNvSpPr txBox="1"/>
          <p:nvPr/>
        </p:nvSpPr>
        <p:spPr>
          <a:xfrm>
            <a:off x="609600" y="695325"/>
            <a:ext cx="11521440" cy="4476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0" i="0" u="none">
                <a:solidFill>
                  <a:srgbClr val="FFFFFF"/>
                </a:solidFill>
                <a:latin typeface="Orbitron ExtraBold"/>
              </a:rPr>
              <a:t>Introducing Clear Text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53E7CF4-F348-A424-A7C3-6C8B289036CF}"/>
              </a:ext>
            </a:extLst>
          </p:cNvPr>
          <p:cNvSpPr txBox="1"/>
          <p:nvPr/>
        </p:nvSpPr>
        <p:spPr>
          <a:xfrm>
            <a:off x="885825" y="5981700"/>
            <a:ext cx="6600825" cy="219075"/>
          </a:xfrm>
          <a:prstGeom prst="rect">
            <a:avLst/>
          </a:prstGeom>
          <a:noFill/>
        </p:spPr>
        <p:txBody>
          <a:bodyPr wrap="square" lIns="32385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FFFFFF"/>
                </a:solidFill>
                <a:latin typeface="Inter SemiBold"/>
              </a:rPr>
              <a:t>A unified reading ecosystem that meets the reader exactly where they are.</a:t>
            </a:r>
          </a:p>
        </p:txBody>
      </p:sp>
      <p:pic>
        <p:nvPicPr>
          <p:cNvPr id="9" name="Picture 8" descr="image.png">
            <a:extLst>
              <a:ext uri="{FF2B5EF4-FFF2-40B4-BE49-F238E27FC236}">
                <a16:creationId xmlns:a16="http://schemas.microsoft.com/office/drawing/2014/main" id="{03F977F2-3C2D-9959-0462-0849E600BE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461962"/>
            <a:ext cx="171450" cy="171450"/>
          </a:xfrm>
          <a:prstGeom prst="rect">
            <a:avLst/>
          </a:prstGeom>
        </p:spPr>
      </p:pic>
      <p:pic>
        <p:nvPicPr>
          <p:cNvPr id="13" name="Picture 12" descr="image.png">
            <a:extLst>
              <a:ext uri="{FF2B5EF4-FFF2-40B4-BE49-F238E27FC236}">
                <a16:creationId xmlns:a16="http://schemas.microsoft.com/office/drawing/2014/main" id="{E4E215CC-B457-FBFD-E779-6D14D4577E0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5825" y="5981700"/>
            <a:ext cx="209550" cy="20955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B34A035-3F77-5702-C56E-E5242D50DB02}"/>
              </a:ext>
            </a:extLst>
          </p:cNvPr>
          <p:cNvSpPr txBox="1"/>
          <p:nvPr/>
        </p:nvSpPr>
        <p:spPr>
          <a:xfrm>
            <a:off x="876300" y="457200"/>
            <a:ext cx="137160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0F0FF"/>
                </a:solidFill>
                <a:latin typeface="Orbitron"/>
              </a:rPr>
              <a:t>THE SOLUTION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0A76187B-C0D1-3009-A9D6-5C10681FBD05}"/>
              </a:ext>
            </a:extLst>
          </p:cNvPr>
          <p:cNvGrpSpPr/>
          <p:nvPr/>
        </p:nvGrpSpPr>
        <p:grpSpPr>
          <a:xfrm>
            <a:off x="9399790" y="2744982"/>
            <a:ext cx="2524817" cy="1833526"/>
            <a:chOff x="609600" y="2128837"/>
            <a:chExt cx="3505200" cy="2676184"/>
          </a:xfrm>
        </p:grpSpPr>
        <p:pic>
          <p:nvPicPr>
            <p:cNvPr id="10" name="Picture 9" descr="image.png">
              <a:extLst>
                <a:ext uri="{FF2B5EF4-FFF2-40B4-BE49-F238E27FC236}">
                  <a16:creationId xmlns:a16="http://schemas.microsoft.com/office/drawing/2014/main" id="{A5E38341-6835-FEA5-B881-DF084471B46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85825" y="2405062"/>
              <a:ext cx="476250" cy="476250"/>
            </a:xfrm>
            <a:prstGeom prst="rect">
              <a:avLst/>
            </a:prstGeom>
          </p:spPr>
        </p:pic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6B2B9C2C-1AD2-37E0-F5E7-FE8CC3523BF3}"/>
                </a:ext>
              </a:extLst>
            </p:cNvPr>
            <p:cNvGrpSpPr/>
            <p:nvPr/>
          </p:nvGrpSpPr>
          <p:grpSpPr>
            <a:xfrm>
              <a:off x="609600" y="2128837"/>
              <a:ext cx="3505200" cy="2676184"/>
              <a:chOff x="609600" y="2128837"/>
              <a:chExt cx="3505200" cy="2676184"/>
            </a:xfrm>
          </p:grpSpPr>
          <p:pic>
            <p:nvPicPr>
              <p:cNvPr id="4" name="Picture 3" descr="image.png">
                <a:extLst>
                  <a:ext uri="{FF2B5EF4-FFF2-40B4-BE49-F238E27FC236}">
                    <a16:creationId xmlns:a16="http://schemas.microsoft.com/office/drawing/2014/main" id="{999C393A-C273-233D-B437-E8F9B8AB89E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09600" y="2128837"/>
                <a:ext cx="3505200" cy="2667000"/>
              </a:xfrm>
              <a:prstGeom prst="rect">
                <a:avLst/>
              </a:prstGeom>
            </p:spPr>
          </p:pic>
          <p:pic>
            <p:nvPicPr>
              <p:cNvPr id="15" name="Picture 14" descr="image.png">
                <a:extLst>
                  <a:ext uri="{FF2B5EF4-FFF2-40B4-BE49-F238E27FC236}">
                    <a16:creationId xmlns:a16="http://schemas.microsoft.com/office/drawing/2014/main" id="{FB16EB90-1524-4F31-7257-5B231BB5EB9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023937" y="2528887"/>
                <a:ext cx="200025" cy="228600"/>
              </a:xfrm>
              <a:prstGeom prst="rect">
                <a:avLst/>
              </a:prstGeom>
            </p:spPr>
          </p:pic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A3D2C709-CF12-AF6D-4C0F-E52D06ADAA6F}"/>
                  </a:ext>
                </a:extLst>
              </p:cNvPr>
              <p:cNvSpPr txBox="1"/>
              <p:nvPr/>
            </p:nvSpPr>
            <p:spPr>
              <a:xfrm>
                <a:off x="885826" y="3482130"/>
                <a:ext cx="3100387" cy="336919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/>
                <a:r>
                  <a:rPr sz="1500" b="1" i="0" u="none" dirty="0">
                    <a:solidFill>
                      <a:srgbClr val="FFFFFF"/>
                    </a:solidFill>
                    <a:latin typeface="Orbitron"/>
                  </a:rPr>
                  <a:t>Context-Aware Popup</a:t>
                </a:r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0FDDECB9-DC86-194B-7452-D89C232869E9}"/>
                  </a:ext>
                </a:extLst>
              </p:cNvPr>
              <p:cNvSpPr txBox="1"/>
              <p:nvPr/>
            </p:nvSpPr>
            <p:spPr>
              <a:xfrm>
                <a:off x="885826" y="3815507"/>
                <a:ext cx="2952750" cy="989514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>
                  <a:lnSpc>
                    <a:spcPts val="1848"/>
                  </a:lnSpc>
                </a:pPr>
                <a:r>
                  <a:rPr lang="en-US" sz="1275" b="0" i="0" u="none" dirty="0">
                    <a:solidFill>
                      <a:srgbClr val="CBD5E1"/>
                    </a:solidFill>
                    <a:latin typeface="Inter"/>
                  </a:rPr>
                  <a:t>Lightweight Chrome extension operating directly inside your active tab window.</a:t>
                </a:r>
              </a:p>
            </p:txBody>
          </p:sp>
        </p:grp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FB438951-C51F-775D-2C8D-07182C9ADF6B}"/>
              </a:ext>
            </a:extLst>
          </p:cNvPr>
          <p:cNvGrpSpPr/>
          <p:nvPr/>
        </p:nvGrpSpPr>
        <p:grpSpPr>
          <a:xfrm>
            <a:off x="731022" y="2744903"/>
            <a:ext cx="2524816" cy="1839818"/>
            <a:chOff x="4343400" y="2108968"/>
            <a:chExt cx="3552565" cy="2640063"/>
          </a:xfrm>
        </p:grpSpPr>
        <p:pic>
          <p:nvPicPr>
            <p:cNvPr id="11" name="Picture 10" descr="image.png">
              <a:extLst>
                <a:ext uri="{FF2B5EF4-FFF2-40B4-BE49-F238E27FC236}">
                  <a16:creationId xmlns:a16="http://schemas.microsoft.com/office/drawing/2014/main" id="{F4928AC9-1699-34D3-6259-AD1C25A9FC83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4619625" y="2405062"/>
              <a:ext cx="476250" cy="476250"/>
            </a:xfrm>
            <a:prstGeom prst="rect">
              <a:avLst/>
            </a:prstGeom>
          </p:spPr>
        </p:pic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B173A405-DFCA-E48A-535F-377A5AA91272}"/>
                </a:ext>
              </a:extLst>
            </p:cNvPr>
            <p:cNvGrpSpPr/>
            <p:nvPr/>
          </p:nvGrpSpPr>
          <p:grpSpPr>
            <a:xfrm>
              <a:off x="4343400" y="2108968"/>
              <a:ext cx="3552565" cy="2640063"/>
              <a:chOff x="4343400" y="2128837"/>
              <a:chExt cx="3505200" cy="2667000"/>
            </a:xfrm>
          </p:grpSpPr>
          <p:pic>
            <p:nvPicPr>
              <p:cNvPr id="5" name="Picture 4" descr="image.png">
                <a:extLst>
                  <a:ext uri="{FF2B5EF4-FFF2-40B4-BE49-F238E27FC236}">
                    <a16:creationId xmlns:a16="http://schemas.microsoft.com/office/drawing/2014/main" id="{60A7F5E8-83E2-D19F-BD60-640EAE19547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343400" y="2128837"/>
                <a:ext cx="3505200" cy="2667000"/>
              </a:xfrm>
              <a:prstGeom prst="rect">
                <a:avLst/>
              </a:prstGeom>
            </p:spPr>
          </p:pic>
          <p:pic>
            <p:nvPicPr>
              <p:cNvPr id="16" name="Picture 15" descr="image.png">
                <a:extLst>
                  <a:ext uri="{FF2B5EF4-FFF2-40B4-BE49-F238E27FC236}">
                    <a16:creationId xmlns:a16="http://schemas.microsoft.com/office/drawing/2014/main" id="{EF7DB9EF-C1AC-CF6D-EC67-C00AF6FEAF7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4743450" y="2528887"/>
                <a:ext cx="228600" cy="228600"/>
              </a:xfrm>
              <a:prstGeom prst="rect">
                <a:avLst/>
              </a:prstGeom>
            </p:spPr>
          </p:pic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467A3088-55EA-3676-AA8B-6461510A66D4}"/>
                  </a:ext>
                </a:extLst>
              </p:cNvPr>
              <p:cNvSpPr txBox="1"/>
              <p:nvPr/>
            </p:nvSpPr>
            <p:spPr>
              <a:xfrm>
                <a:off x="4615943" y="3317013"/>
                <a:ext cx="3100387" cy="140878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/>
                <a:r>
                  <a:rPr sz="1500" b="1" i="0" u="none" dirty="0">
                    <a:solidFill>
                      <a:srgbClr val="FFFFFF"/>
                    </a:solidFill>
                    <a:latin typeface="Orbitron"/>
                  </a:rPr>
                  <a:t>Scale-Adaptive Intelligence</a:t>
                </a:r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95BDEB83-7414-5D9F-8CE3-BEDABEFEC1D9}"/>
                  </a:ext>
                </a:extLst>
              </p:cNvPr>
              <p:cNvSpPr txBox="1"/>
              <p:nvPr/>
            </p:nvSpPr>
            <p:spPr>
              <a:xfrm>
                <a:off x="4634050" y="3657460"/>
                <a:ext cx="2952750" cy="469404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>
                  <a:lnSpc>
                    <a:spcPts val="1848"/>
                  </a:lnSpc>
                </a:pPr>
                <a:r>
                  <a:rPr sz="1275" b="0" i="0" u="none" dirty="0">
                    <a:solidFill>
                      <a:srgbClr val="CBD5E1"/>
                    </a:solidFill>
                    <a:latin typeface="Inter"/>
                  </a:rPr>
                  <a:t>Dynamically shifts toolkits based on highlighted text length.</a:t>
                </a:r>
              </a:p>
            </p:txBody>
          </p:sp>
        </p:grp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549C2531-7469-7A5C-B5FE-63313BD749DD}"/>
              </a:ext>
            </a:extLst>
          </p:cNvPr>
          <p:cNvGrpSpPr/>
          <p:nvPr/>
        </p:nvGrpSpPr>
        <p:grpSpPr>
          <a:xfrm>
            <a:off x="3865438" y="1070339"/>
            <a:ext cx="5125393" cy="4380367"/>
            <a:chOff x="8077200" y="2128837"/>
            <a:chExt cx="3505200" cy="2667000"/>
          </a:xfrm>
        </p:grpSpPr>
        <p:pic>
          <p:nvPicPr>
            <p:cNvPr id="17" name="Picture 16" descr="image.png">
              <a:extLst>
                <a:ext uri="{FF2B5EF4-FFF2-40B4-BE49-F238E27FC236}">
                  <a16:creationId xmlns:a16="http://schemas.microsoft.com/office/drawing/2014/main" id="{7A561B3F-A709-9C67-07FA-86D3A6305FC0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8491537" y="2528887"/>
              <a:ext cx="200025" cy="228600"/>
            </a:xfrm>
            <a:prstGeom prst="rect">
              <a:avLst/>
            </a:prstGeom>
          </p:spPr>
        </p:pic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7685372A-1650-D519-4887-646EBFAE3C53}"/>
                </a:ext>
              </a:extLst>
            </p:cNvPr>
            <p:cNvGrpSpPr/>
            <p:nvPr/>
          </p:nvGrpSpPr>
          <p:grpSpPr>
            <a:xfrm>
              <a:off x="8077200" y="2128837"/>
              <a:ext cx="3505200" cy="2667000"/>
              <a:chOff x="8077200" y="2128837"/>
              <a:chExt cx="3505200" cy="2667000"/>
            </a:xfrm>
          </p:grpSpPr>
          <p:pic>
            <p:nvPicPr>
              <p:cNvPr id="6" name="Picture 5" descr="image.png">
                <a:extLst>
                  <a:ext uri="{FF2B5EF4-FFF2-40B4-BE49-F238E27FC236}">
                    <a16:creationId xmlns:a16="http://schemas.microsoft.com/office/drawing/2014/main" id="{ABBAF04E-A55E-97FC-FE9B-4D4A9242169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077200" y="2128837"/>
                <a:ext cx="3505200" cy="2667000"/>
              </a:xfrm>
              <a:prstGeom prst="rect">
                <a:avLst/>
              </a:prstGeom>
            </p:spPr>
          </p:pic>
          <p:pic>
            <p:nvPicPr>
              <p:cNvPr id="12" name="Picture 11" descr="image.png">
                <a:extLst>
                  <a:ext uri="{FF2B5EF4-FFF2-40B4-BE49-F238E27FC236}">
                    <a16:creationId xmlns:a16="http://schemas.microsoft.com/office/drawing/2014/main" id="{2CD107BB-C1E5-4841-55B1-60786991841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8353425" y="2405062"/>
                <a:ext cx="476250" cy="476250"/>
              </a:xfrm>
              <a:prstGeom prst="rect">
                <a:avLst/>
              </a:prstGeom>
            </p:spPr>
          </p:pic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BC65552B-756A-C4A3-AA2A-6A120CFD140C}"/>
                  </a:ext>
                </a:extLst>
              </p:cNvPr>
              <p:cNvSpPr txBox="1"/>
              <p:nvPr/>
            </p:nvSpPr>
            <p:spPr>
              <a:xfrm>
                <a:off x="8353425" y="3326193"/>
                <a:ext cx="3100387" cy="299825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/>
                <a:r>
                  <a:rPr sz="3200" b="1" i="0" u="none" dirty="0">
                    <a:solidFill>
                      <a:srgbClr val="FFFFFF"/>
                    </a:solidFill>
                    <a:latin typeface="Orbitron"/>
                  </a:rPr>
                  <a:t>Zero Disruption</a:t>
                </a: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2B949D95-0A1F-30EE-294D-6988FDAEFD3F}"/>
                  </a:ext>
                </a:extLst>
              </p:cNvPr>
              <p:cNvSpPr txBox="1"/>
              <p:nvPr/>
            </p:nvSpPr>
            <p:spPr>
              <a:xfrm>
                <a:off x="8353425" y="3715941"/>
                <a:ext cx="2952750" cy="281086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>
                  <a:lnSpc>
                    <a:spcPts val="1848"/>
                  </a:lnSpc>
                </a:pPr>
                <a:r>
                  <a:rPr sz="1600" b="0" i="0" u="none" dirty="0">
                    <a:solidFill>
                      <a:srgbClr val="CBD5E1"/>
                    </a:solidFill>
                    <a:latin typeface="Inter"/>
                  </a:rPr>
                  <a:t>Eliminates copy-paste steps and external tools completely.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84870190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D2BB0A-0F34-9016-0B6E-DCE1A2E111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31F38C94-E422-69B4-013C-2DD0C6C0C4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>
            <a:extLst>
              <a:ext uri="{FF2B5EF4-FFF2-40B4-BE49-F238E27FC236}">
                <a16:creationId xmlns:a16="http://schemas.microsoft.com/office/drawing/2014/main" id="{EC8A2257-A8DB-4EA7-68C2-DB1EEA3A65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5781675"/>
            <a:ext cx="10972800" cy="61912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A1A6B26-8DE1-29EA-F1E0-F7FD76D7386C}"/>
              </a:ext>
            </a:extLst>
          </p:cNvPr>
          <p:cNvSpPr txBox="1"/>
          <p:nvPr/>
        </p:nvSpPr>
        <p:spPr>
          <a:xfrm>
            <a:off x="609600" y="695325"/>
            <a:ext cx="11521440" cy="4476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0" i="0" u="none">
                <a:solidFill>
                  <a:srgbClr val="FFFFFF"/>
                </a:solidFill>
                <a:latin typeface="Orbitron ExtraBold"/>
              </a:rPr>
              <a:t>Introducing Clear Text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A8D85C4-2E2C-7D6B-A7EC-D99AC8546504}"/>
              </a:ext>
            </a:extLst>
          </p:cNvPr>
          <p:cNvSpPr txBox="1"/>
          <p:nvPr/>
        </p:nvSpPr>
        <p:spPr>
          <a:xfrm>
            <a:off x="885825" y="5981700"/>
            <a:ext cx="6600825" cy="219075"/>
          </a:xfrm>
          <a:prstGeom prst="rect">
            <a:avLst/>
          </a:prstGeom>
          <a:noFill/>
        </p:spPr>
        <p:txBody>
          <a:bodyPr wrap="square" lIns="32385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FFFFFF"/>
                </a:solidFill>
                <a:latin typeface="Inter SemiBold"/>
              </a:rPr>
              <a:t>A unified reading ecosystem that meets the reader exactly where they are.</a:t>
            </a:r>
          </a:p>
        </p:txBody>
      </p:sp>
      <p:pic>
        <p:nvPicPr>
          <p:cNvPr id="9" name="Picture 8" descr="image.png">
            <a:extLst>
              <a:ext uri="{FF2B5EF4-FFF2-40B4-BE49-F238E27FC236}">
                <a16:creationId xmlns:a16="http://schemas.microsoft.com/office/drawing/2014/main" id="{418AF264-F402-674F-7AC3-FDE3B92243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461962"/>
            <a:ext cx="171450" cy="171450"/>
          </a:xfrm>
          <a:prstGeom prst="rect">
            <a:avLst/>
          </a:prstGeom>
        </p:spPr>
      </p:pic>
      <p:pic>
        <p:nvPicPr>
          <p:cNvPr id="13" name="Picture 12" descr="image.png">
            <a:extLst>
              <a:ext uri="{FF2B5EF4-FFF2-40B4-BE49-F238E27FC236}">
                <a16:creationId xmlns:a16="http://schemas.microsoft.com/office/drawing/2014/main" id="{D238B7E7-B971-EE12-F0E5-E2B81AEA0AB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5825" y="5981700"/>
            <a:ext cx="209550" cy="20955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0B9CABC-AFB2-1FE7-8C83-C70D89F0AB5D}"/>
              </a:ext>
            </a:extLst>
          </p:cNvPr>
          <p:cNvSpPr txBox="1"/>
          <p:nvPr/>
        </p:nvSpPr>
        <p:spPr>
          <a:xfrm>
            <a:off x="876300" y="457200"/>
            <a:ext cx="137160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0F0FF"/>
                </a:solidFill>
                <a:latin typeface="Orbitron"/>
              </a:rPr>
              <a:t>THE SOLUTION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6A79DC01-EC19-AD64-8E76-1964ADC58131}"/>
              </a:ext>
            </a:extLst>
          </p:cNvPr>
          <p:cNvGrpSpPr/>
          <p:nvPr/>
        </p:nvGrpSpPr>
        <p:grpSpPr>
          <a:xfrm>
            <a:off x="9149945" y="2736925"/>
            <a:ext cx="2524818" cy="1830755"/>
            <a:chOff x="4343400" y="2108968"/>
            <a:chExt cx="3552565" cy="2640063"/>
          </a:xfrm>
        </p:grpSpPr>
        <p:pic>
          <p:nvPicPr>
            <p:cNvPr id="11" name="Picture 10" descr="image.png">
              <a:extLst>
                <a:ext uri="{FF2B5EF4-FFF2-40B4-BE49-F238E27FC236}">
                  <a16:creationId xmlns:a16="http://schemas.microsoft.com/office/drawing/2014/main" id="{DA48D5A3-4D72-2EE1-A8AB-44EE373C94A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619625" y="2405062"/>
              <a:ext cx="476250" cy="476250"/>
            </a:xfrm>
            <a:prstGeom prst="rect">
              <a:avLst/>
            </a:prstGeom>
          </p:spPr>
        </p:pic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0CEFE7F5-4F13-69CF-B38A-61EB17EA6E8A}"/>
                </a:ext>
              </a:extLst>
            </p:cNvPr>
            <p:cNvGrpSpPr/>
            <p:nvPr/>
          </p:nvGrpSpPr>
          <p:grpSpPr>
            <a:xfrm>
              <a:off x="4343400" y="2108968"/>
              <a:ext cx="3552565" cy="2640063"/>
              <a:chOff x="4343400" y="2128837"/>
              <a:chExt cx="3505200" cy="2667000"/>
            </a:xfrm>
          </p:grpSpPr>
          <p:pic>
            <p:nvPicPr>
              <p:cNvPr id="5" name="Picture 4" descr="image.png">
                <a:extLst>
                  <a:ext uri="{FF2B5EF4-FFF2-40B4-BE49-F238E27FC236}">
                    <a16:creationId xmlns:a16="http://schemas.microsoft.com/office/drawing/2014/main" id="{7E98E08E-6FB6-B3B2-FF8D-AE1967D8B74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343400" y="2128837"/>
                <a:ext cx="3505200" cy="2667000"/>
              </a:xfrm>
              <a:prstGeom prst="rect">
                <a:avLst/>
              </a:prstGeom>
            </p:spPr>
          </p:pic>
          <p:pic>
            <p:nvPicPr>
              <p:cNvPr id="16" name="Picture 15" descr="image.png">
                <a:extLst>
                  <a:ext uri="{FF2B5EF4-FFF2-40B4-BE49-F238E27FC236}">
                    <a16:creationId xmlns:a16="http://schemas.microsoft.com/office/drawing/2014/main" id="{4B42EB14-F685-F90F-7A20-EF9B99C2768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743450" y="2528887"/>
                <a:ext cx="228600" cy="228600"/>
              </a:xfrm>
              <a:prstGeom prst="rect">
                <a:avLst/>
              </a:prstGeom>
            </p:spPr>
          </p:pic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E448461D-E6A6-2412-FFE9-5A7323400062}"/>
                  </a:ext>
                </a:extLst>
              </p:cNvPr>
              <p:cNvSpPr txBox="1"/>
              <p:nvPr/>
            </p:nvSpPr>
            <p:spPr>
              <a:xfrm>
                <a:off x="4615942" y="3275946"/>
                <a:ext cx="3100388" cy="140878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/>
                <a:r>
                  <a:rPr sz="1500" b="1" i="0" u="none" dirty="0">
                    <a:solidFill>
                      <a:srgbClr val="FFFFFF"/>
                    </a:solidFill>
                    <a:latin typeface="Orbitron"/>
                  </a:rPr>
                  <a:t>Scale-Adaptive Intelligence</a:t>
                </a:r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9F1B8256-F294-B45B-6111-6A2ABDDA91DD}"/>
                  </a:ext>
                </a:extLst>
              </p:cNvPr>
              <p:cNvSpPr txBox="1"/>
              <p:nvPr/>
            </p:nvSpPr>
            <p:spPr>
              <a:xfrm>
                <a:off x="4619626" y="3652282"/>
                <a:ext cx="2952750" cy="469402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>
                  <a:lnSpc>
                    <a:spcPts val="1848"/>
                  </a:lnSpc>
                </a:pPr>
                <a:r>
                  <a:rPr sz="1275" b="0" i="0" u="none" dirty="0">
                    <a:solidFill>
                      <a:srgbClr val="CBD5E1"/>
                    </a:solidFill>
                    <a:latin typeface="Inter"/>
                  </a:rPr>
                  <a:t>Dynamically shifts toolkits based on highlighted text length.</a:t>
                </a:r>
              </a:p>
            </p:txBody>
          </p:sp>
        </p:grp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C92DF5EE-A651-8020-6EC1-3C468E4362F1}"/>
              </a:ext>
            </a:extLst>
          </p:cNvPr>
          <p:cNvGrpSpPr/>
          <p:nvPr/>
        </p:nvGrpSpPr>
        <p:grpSpPr>
          <a:xfrm>
            <a:off x="740141" y="2736925"/>
            <a:ext cx="2524816" cy="1827234"/>
            <a:chOff x="8077200" y="2128837"/>
            <a:chExt cx="3505200" cy="2667000"/>
          </a:xfrm>
        </p:grpSpPr>
        <p:pic>
          <p:nvPicPr>
            <p:cNvPr id="17" name="Picture 16" descr="image.png">
              <a:extLst>
                <a:ext uri="{FF2B5EF4-FFF2-40B4-BE49-F238E27FC236}">
                  <a16:creationId xmlns:a16="http://schemas.microsoft.com/office/drawing/2014/main" id="{E62ED89F-6E8A-EC9F-EC2E-2D246726A990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8491537" y="2528887"/>
              <a:ext cx="200025" cy="228600"/>
            </a:xfrm>
            <a:prstGeom prst="rect">
              <a:avLst/>
            </a:prstGeom>
          </p:spPr>
        </p:pic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07B8EC85-E219-4ACB-E72A-5732B1C1762C}"/>
                </a:ext>
              </a:extLst>
            </p:cNvPr>
            <p:cNvGrpSpPr/>
            <p:nvPr/>
          </p:nvGrpSpPr>
          <p:grpSpPr>
            <a:xfrm>
              <a:off x="8077200" y="2128837"/>
              <a:ext cx="3505200" cy="2667000"/>
              <a:chOff x="8077200" y="2128837"/>
              <a:chExt cx="3505200" cy="2667000"/>
            </a:xfrm>
          </p:grpSpPr>
          <p:pic>
            <p:nvPicPr>
              <p:cNvPr id="6" name="Picture 5" descr="image.png">
                <a:extLst>
                  <a:ext uri="{FF2B5EF4-FFF2-40B4-BE49-F238E27FC236}">
                    <a16:creationId xmlns:a16="http://schemas.microsoft.com/office/drawing/2014/main" id="{2A47AAA8-EEFA-747C-499B-5F025B7DB5D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077200" y="2128837"/>
                <a:ext cx="3505200" cy="2667000"/>
              </a:xfrm>
              <a:prstGeom prst="rect">
                <a:avLst/>
              </a:prstGeom>
            </p:spPr>
          </p:pic>
          <p:pic>
            <p:nvPicPr>
              <p:cNvPr id="12" name="Picture 11" descr="image.png">
                <a:extLst>
                  <a:ext uri="{FF2B5EF4-FFF2-40B4-BE49-F238E27FC236}">
                    <a16:creationId xmlns:a16="http://schemas.microsoft.com/office/drawing/2014/main" id="{D9D06F25-8990-4E70-F5E7-9D74F7B0881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8353425" y="2405062"/>
                <a:ext cx="476250" cy="476250"/>
              </a:xfrm>
              <a:prstGeom prst="rect">
                <a:avLst/>
              </a:prstGeom>
            </p:spPr>
          </p:pic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7482ABA2-D3CC-3EE5-E90D-B2BC6A6F6E83}"/>
                  </a:ext>
                </a:extLst>
              </p:cNvPr>
              <p:cNvSpPr txBox="1"/>
              <p:nvPr/>
            </p:nvSpPr>
            <p:spPr>
              <a:xfrm>
                <a:off x="8353425" y="3716833"/>
                <a:ext cx="3100387" cy="238125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/>
                <a:r>
                  <a:rPr sz="1500" b="1" i="0" u="none">
                    <a:solidFill>
                      <a:srgbClr val="FFFFFF"/>
                    </a:solidFill>
                    <a:latin typeface="Orbitron"/>
                  </a:rPr>
                  <a:t>Zero Disruption</a:t>
                </a: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106AE8D2-AF3B-61C2-D8FC-B3644B14BB00}"/>
                  </a:ext>
                </a:extLst>
              </p:cNvPr>
              <p:cNvSpPr txBox="1"/>
              <p:nvPr/>
            </p:nvSpPr>
            <p:spPr>
              <a:xfrm>
                <a:off x="8353425" y="4050208"/>
                <a:ext cx="2952750" cy="469403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>
                  <a:lnSpc>
                    <a:spcPts val="1848"/>
                  </a:lnSpc>
                </a:pPr>
                <a:r>
                  <a:rPr sz="1275" b="0" i="0" u="none">
                    <a:solidFill>
                      <a:srgbClr val="CBD5E1"/>
                    </a:solidFill>
                    <a:latin typeface="Inter"/>
                  </a:rPr>
                  <a:t>Eliminates copy-paste steps and external tools completely.</a:t>
                </a:r>
              </a:p>
            </p:txBody>
          </p:sp>
        </p:grp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76A70956-7C86-8B68-2F7C-654EA0FFD9FF}"/>
              </a:ext>
            </a:extLst>
          </p:cNvPr>
          <p:cNvGrpSpPr/>
          <p:nvPr/>
        </p:nvGrpSpPr>
        <p:grpSpPr>
          <a:xfrm>
            <a:off x="3638670" y="1264362"/>
            <a:ext cx="5208794" cy="4275809"/>
            <a:chOff x="609600" y="2128837"/>
            <a:chExt cx="3505200" cy="2667000"/>
          </a:xfrm>
        </p:grpSpPr>
        <p:pic>
          <p:nvPicPr>
            <p:cNvPr id="10" name="Picture 9" descr="image.png">
              <a:extLst>
                <a:ext uri="{FF2B5EF4-FFF2-40B4-BE49-F238E27FC236}">
                  <a16:creationId xmlns:a16="http://schemas.microsoft.com/office/drawing/2014/main" id="{30E44192-7AD7-9F01-4761-412D6199D565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885825" y="2405062"/>
              <a:ext cx="476250" cy="476250"/>
            </a:xfrm>
            <a:prstGeom prst="rect">
              <a:avLst/>
            </a:prstGeom>
          </p:spPr>
        </p:pic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619132E3-24BF-1FB0-4735-09A857CFA4CC}"/>
                </a:ext>
              </a:extLst>
            </p:cNvPr>
            <p:cNvGrpSpPr/>
            <p:nvPr/>
          </p:nvGrpSpPr>
          <p:grpSpPr>
            <a:xfrm>
              <a:off x="609600" y="2128837"/>
              <a:ext cx="3505200" cy="2667000"/>
              <a:chOff x="609600" y="2128837"/>
              <a:chExt cx="3505200" cy="2667000"/>
            </a:xfrm>
          </p:grpSpPr>
          <p:pic>
            <p:nvPicPr>
              <p:cNvPr id="4" name="Picture 3" descr="image.png">
                <a:extLst>
                  <a:ext uri="{FF2B5EF4-FFF2-40B4-BE49-F238E27FC236}">
                    <a16:creationId xmlns:a16="http://schemas.microsoft.com/office/drawing/2014/main" id="{25085145-630D-6474-0513-B2174409492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09600" y="2128837"/>
                <a:ext cx="3505200" cy="2667000"/>
              </a:xfrm>
              <a:prstGeom prst="rect">
                <a:avLst/>
              </a:prstGeom>
            </p:spPr>
          </p:pic>
          <p:pic>
            <p:nvPicPr>
              <p:cNvPr id="15" name="Picture 14" descr="image.png">
                <a:extLst>
                  <a:ext uri="{FF2B5EF4-FFF2-40B4-BE49-F238E27FC236}">
                    <a16:creationId xmlns:a16="http://schemas.microsoft.com/office/drawing/2014/main" id="{8B886806-CBFB-964E-0098-A1183CCA66E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023937" y="2528887"/>
                <a:ext cx="200025" cy="228600"/>
              </a:xfrm>
              <a:prstGeom prst="rect">
                <a:avLst/>
              </a:prstGeom>
            </p:spPr>
          </p:pic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1EFA620A-AD4D-F2F3-FF49-F2F8D1BC6B30}"/>
                  </a:ext>
                </a:extLst>
              </p:cNvPr>
              <p:cNvSpPr txBox="1"/>
              <p:nvPr/>
            </p:nvSpPr>
            <p:spPr>
              <a:xfrm>
                <a:off x="885826" y="3142517"/>
                <a:ext cx="3100387" cy="307157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/>
                <a:r>
                  <a:rPr sz="3200" b="1" i="0" u="none" dirty="0">
                    <a:solidFill>
                      <a:srgbClr val="FFFFFF"/>
                    </a:solidFill>
                    <a:latin typeface="Orbitron"/>
                  </a:rPr>
                  <a:t>Context-Aware Popup</a:t>
                </a:r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7D868B22-17D6-1808-9BFF-45CEB9C074B4}"/>
                  </a:ext>
                </a:extLst>
              </p:cNvPr>
              <p:cNvSpPr txBox="1"/>
              <p:nvPr/>
            </p:nvSpPr>
            <p:spPr>
              <a:xfrm>
                <a:off x="885825" y="3580458"/>
                <a:ext cx="2952750" cy="28796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>
                  <a:lnSpc>
                    <a:spcPts val="1848"/>
                  </a:lnSpc>
                </a:pPr>
                <a:r>
                  <a:rPr lang="en-US" sz="1600" b="0" i="0" u="none" dirty="0">
                    <a:solidFill>
                      <a:srgbClr val="CBD5E1"/>
                    </a:solidFill>
                    <a:latin typeface="Inter"/>
                  </a:rPr>
                  <a:t>Lightweight Chrome extension operating directly inside your active tab window.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90051701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5886450"/>
            <a:ext cx="10972800" cy="5143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1371600"/>
            <a:ext cx="2600325" cy="42862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00425" y="1371600"/>
            <a:ext cx="2600325" cy="42862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1250" y="1371600"/>
            <a:ext cx="2600325" cy="42862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82075" y="1371600"/>
            <a:ext cx="2600325" cy="42862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695325"/>
            <a:ext cx="11521440" cy="4476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0" i="0" u="none">
                <a:solidFill>
                  <a:srgbClr val="FFFFFF"/>
                </a:solidFill>
                <a:latin typeface="Orbitron ExtraBold"/>
              </a:rPr>
              <a:t>Scale-Adaptive Feature Hierarchy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7725" y="6048375"/>
            <a:ext cx="46101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CBD5E1"/>
                </a:solidFill>
                <a:latin typeface="Inter"/>
              </a:rPr>
              <a:t>Continuous intelligence scaling across every reading dimension.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" y="461962"/>
            <a:ext cx="171450" cy="1714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76300" y="457200"/>
            <a:ext cx="3824287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FF1E42"/>
                </a:solidFill>
                <a:latin typeface="Orbitron"/>
              </a:rPr>
              <a:t>SYSTEM ARCHITECTURE — MULTI-SCALE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7725" y="5257800"/>
            <a:ext cx="2124075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FF1E42"/>
                </a:solidFill>
                <a:latin typeface="Inter SemiBold"/>
              </a:rPr>
              <a:t>Single-Click Focus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38550" y="5257800"/>
            <a:ext cx="2124075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00F0FF"/>
                </a:solidFill>
                <a:latin typeface="Inter SemiBold"/>
              </a:rPr>
              <a:t>Phrase Drag Focus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29375" y="5257800"/>
            <a:ext cx="2124075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FF1E42"/>
                </a:solidFill>
                <a:latin typeface="Inter SemiBold"/>
              </a:rPr>
              <a:t>Section Drag Focus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20200" y="5257800"/>
            <a:ext cx="2124075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00F0FF"/>
                </a:solidFill>
                <a:latin typeface="Inter SemiBold"/>
              </a:rPr>
              <a:t>Full Page Analysis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7725" y="1609725"/>
            <a:ext cx="2124075" cy="2190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 u="none">
                <a:solidFill>
                  <a:srgbClr val="FFFFFF"/>
                </a:solidFill>
                <a:latin typeface="Inter ExtraBold"/>
              </a:rPr>
              <a:t>🔤 Word Level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7725" y="1962150"/>
            <a:ext cx="2124075" cy="4265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200" b="0" i="0" u="none">
                <a:solidFill>
                  <a:srgbClr val="CBD5E1"/>
                </a:solidFill>
                <a:latin typeface="Inter"/>
              </a:rPr>
              <a:t>Dictionary, Translation, TTS Audio, Auto-Save.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38550" y="1609725"/>
            <a:ext cx="2124075" cy="4191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 u="none">
                <a:solidFill>
                  <a:srgbClr val="FFFFFF"/>
                </a:solidFill>
                <a:latin typeface="Inter ExtraBold"/>
              </a:rPr>
              <a:t>💬 Phrase Level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38550" y="2162175"/>
            <a:ext cx="2124075" cy="4265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200" b="0" i="0" u="none">
                <a:solidFill>
                  <a:srgbClr val="CBD5E1"/>
                </a:solidFill>
                <a:latin typeface="Inter"/>
              </a:rPr>
              <a:t>Idiom Unpacking, Read Aloud, Sentence Translate.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29375" y="1609725"/>
            <a:ext cx="2124075" cy="4191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 u="none">
                <a:solidFill>
                  <a:srgbClr val="FFFFFF"/>
                </a:solidFill>
                <a:latin typeface="Inter ExtraBold"/>
              </a:rPr>
              <a:t>📄 Paragraph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29375" y="2162175"/>
            <a:ext cx="2124075" cy="4265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200" b="0" i="0" u="none">
                <a:solidFill>
                  <a:srgbClr val="CBD5E1"/>
                </a:solidFill>
                <a:latin typeface="Inter"/>
              </a:rPr>
              <a:t>Multi-Layer Summary, Thesis Sentence Extraction.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20200" y="1609725"/>
            <a:ext cx="2124075" cy="2190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 u="none">
                <a:solidFill>
                  <a:srgbClr val="FFFFFF"/>
                </a:solidFill>
                <a:latin typeface="Inter ExtraBold"/>
              </a:rPr>
              <a:t>🌐 Document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20200" y="1962150"/>
            <a:ext cx="2124075" cy="4265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200" b="0" i="0" u="none">
                <a:solidFill>
                  <a:srgbClr val="CBD5E1"/>
                </a:solidFill>
                <a:latin typeface="Inter"/>
              </a:rPr>
              <a:t>Global Translation, Bullet Takeaways.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43150" y="1609725"/>
            <a:ext cx="628650" cy="219075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57613" y="1638300"/>
            <a:ext cx="805011" cy="361950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05563" y="1638300"/>
            <a:ext cx="947886" cy="361950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544175" y="1609725"/>
            <a:ext cx="800100" cy="21907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5886450"/>
            <a:ext cx="10972800" cy="5143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1371600"/>
            <a:ext cx="7447954" cy="42862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24254" y="1371600"/>
            <a:ext cx="3258145" cy="42862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600" y="695325"/>
            <a:ext cx="11521440" cy="4476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0" i="0" u="none">
                <a:solidFill>
                  <a:srgbClr val="FFFFFF"/>
                </a:solidFill>
                <a:latin typeface="Orbitron ExtraBold"/>
              </a:rPr>
              <a:t>Single Word Intelligence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7725" y="6048375"/>
            <a:ext cx="3648075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CBD5E1"/>
                </a:solidFill>
                <a:latin typeface="Inter"/>
              </a:rPr>
              <a:t>Instant definition lookup without context switching.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67490" y="828675"/>
            <a:ext cx="171450" cy="1714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3450" y="4819650"/>
            <a:ext cx="6800254" cy="5143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058015" y="729734"/>
            <a:ext cx="333375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IN" sz="2400" b="1" dirty="0">
                <a:solidFill>
                  <a:srgbClr val="FF1E42"/>
                </a:solidFill>
                <a:latin typeface="Orbitron"/>
              </a:rPr>
              <a:t>WORD SELECTION</a:t>
            </a:r>
            <a:endParaRPr sz="2400" b="1" i="0" u="none" dirty="0">
              <a:solidFill>
                <a:srgbClr val="FF1E42"/>
              </a:solidFill>
              <a:latin typeface="Orbitron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562379" y="5257800"/>
            <a:ext cx="2781895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Inter"/>
              </a:rPr>
              <a:t>Phrase drag trigger.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3450" y="1695450"/>
            <a:ext cx="6800254" cy="2857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 u="none">
                <a:solidFill>
                  <a:srgbClr val="FFFFFF"/>
                </a:solidFill>
                <a:latin typeface="Inter ExtraBold"/>
              </a:rPr>
              <a:t>🔤 Word Level Selection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62379" y="1609725"/>
            <a:ext cx="2781895" cy="381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 u="none">
                <a:solidFill>
                  <a:srgbClr val="CBD5E1"/>
                </a:solidFill>
                <a:latin typeface="Inter"/>
              </a:rPr>
              <a:t>💬 Phrase &amp; Sentence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62379" y="2143125"/>
            <a:ext cx="2781895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64748B"/>
                </a:solidFill>
                <a:latin typeface="Inter"/>
              </a:rPr>
              <a:t>Contextual simplification and sentence translation.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52654" y="1700212"/>
            <a:ext cx="781050" cy="27622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56515" y="1619250"/>
            <a:ext cx="887759" cy="36195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33450" y="2171700"/>
            <a:ext cx="6800254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F1E42"/>
                </a:solidFill>
                <a:latin typeface="Inter"/>
              </a:rPr>
              <a:t>• Instant Dictionary:</a:t>
            </a:r>
            <a:r>
              <a:rPr sz="1350" b="0" i="0" u="none">
                <a:solidFill>
                  <a:srgbClr val="FFFFFF"/>
                </a:solidFill>
                <a:latin typeface="Inter"/>
              </a:rPr>
              <a:t> Real-time definitions &amp; semantic context.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3450" y="2524125"/>
            <a:ext cx="6800254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F1E42"/>
                </a:solidFill>
                <a:latin typeface="Inter"/>
              </a:rPr>
              <a:t>• Language Translation:</a:t>
            </a:r>
            <a:r>
              <a:rPr sz="1350" b="0" i="0" u="none">
                <a:solidFill>
                  <a:srgbClr val="FFFFFF"/>
                </a:solidFill>
                <a:latin typeface="Inter"/>
              </a:rPr>
              <a:t> Swift conversions across languages.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3450" y="2876550"/>
            <a:ext cx="6800254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F1E42"/>
                </a:solidFill>
                <a:latin typeface="Inter"/>
              </a:rPr>
              <a:t>• Audio Lookup:</a:t>
            </a:r>
            <a:r>
              <a:rPr sz="1350" b="0" i="0" u="none">
                <a:solidFill>
                  <a:srgbClr val="FFFFFF"/>
                </a:solidFill>
                <a:latin typeface="Inter"/>
              </a:rPr>
              <a:t> Text-to-speech for correct pronunciation.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3450" y="3228975"/>
            <a:ext cx="6800254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F1E42"/>
                </a:solidFill>
                <a:latin typeface="Inter"/>
              </a:rPr>
              <a:t>• Vocabulary Capture:</a:t>
            </a:r>
            <a:r>
              <a:rPr sz="1350" b="0" i="0" u="none">
                <a:solidFill>
                  <a:srgbClr val="FFFFFF"/>
                </a:solidFill>
                <a:latin typeface="Inter"/>
              </a:rPr>
              <a:t> Auto-saves researched terms for review.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5886450"/>
            <a:ext cx="10972800" cy="5143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1371600"/>
            <a:ext cx="3258145" cy="42862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34445" y="1371600"/>
            <a:ext cx="7447954" cy="42862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600" y="695325"/>
            <a:ext cx="11521440" cy="4476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0" i="0" u="none">
                <a:solidFill>
                  <a:srgbClr val="FFFFFF"/>
                </a:solidFill>
                <a:latin typeface="Orbitron ExtraBold"/>
              </a:rPr>
              <a:t>Phrase &amp; Sentence Level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7725" y="6048375"/>
            <a:ext cx="4581525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CBD5E1"/>
                </a:solidFill>
                <a:latin typeface="Inter"/>
              </a:rPr>
              <a:t>Sentence parsing provides rapid clarity on complex statements.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67897" y="828675"/>
            <a:ext cx="171450" cy="1714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58295" y="4819650"/>
            <a:ext cx="6800254" cy="5143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858422" y="729734"/>
            <a:ext cx="360045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 u="none" dirty="0">
                <a:solidFill>
                  <a:srgbClr val="00F0FF"/>
                </a:solidFill>
                <a:latin typeface="Orbitron"/>
              </a:rPr>
              <a:t>PHRASE SELECTION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7725" y="5257800"/>
            <a:ext cx="2781895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Inter"/>
              </a:rPr>
              <a:t>Single-click trigger.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7725" y="1609725"/>
            <a:ext cx="2781895" cy="2190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 u="none">
                <a:solidFill>
                  <a:srgbClr val="CBD5E1"/>
                </a:solidFill>
                <a:latin typeface="Inter"/>
              </a:rPr>
              <a:t>🔤 Word Level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7725" y="1981200"/>
            <a:ext cx="2781895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64748B"/>
                </a:solidFill>
                <a:latin typeface="Inter"/>
              </a:rPr>
              <a:t>Instant definitions and dictionary lookup.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58295" y="1695450"/>
            <a:ext cx="6800254" cy="2857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 u="none">
                <a:solidFill>
                  <a:srgbClr val="FFFFFF"/>
                </a:solidFill>
                <a:latin typeface="Inter ExtraBold"/>
              </a:rPr>
              <a:t>💬 Phrase &amp; Sentence Level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000970" y="1609725"/>
            <a:ext cx="628650" cy="21907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153650" y="1700212"/>
            <a:ext cx="1104900" cy="27622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458295" y="2171700"/>
            <a:ext cx="6800254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0F0FF"/>
                </a:solidFill>
                <a:latin typeface="Inter"/>
              </a:rPr>
              <a:t>• Contextual Simplification:</a:t>
            </a:r>
            <a:r>
              <a:rPr sz="1350" b="0" i="0" u="none">
                <a:solidFill>
                  <a:srgbClr val="FFFFFF"/>
                </a:solidFill>
                <a:latin typeface="Inter"/>
              </a:rPr>
              <a:t> Unpacks core concepts &amp; idioms.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58295" y="2524125"/>
            <a:ext cx="6800254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0F0FF"/>
                </a:solidFill>
                <a:latin typeface="Inter"/>
              </a:rPr>
              <a:t>• Multi-Sentence Translation:</a:t>
            </a:r>
            <a:r>
              <a:rPr sz="1350" b="0" i="0" u="none">
                <a:solidFill>
                  <a:srgbClr val="FFFFFF"/>
                </a:solidFill>
                <a:latin typeface="Inter"/>
              </a:rPr>
              <a:t> Smooth phrasing across languages.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58295" y="2876550"/>
            <a:ext cx="6800254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0F0FF"/>
                </a:solidFill>
                <a:latin typeface="Inter"/>
              </a:rPr>
              <a:t>• Read Aloud Mode:</a:t>
            </a:r>
            <a:r>
              <a:rPr sz="1350" b="0" i="0" u="none">
                <a:solidFill>
                  <a:srgbClr val="FFFFFF"/>
                </a:solidFill>
                <a:latin typeface="Inter"/>
              </a:rPr>
              <a:t> Auditory narration for sentence processing.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58295" y="3228975"/>
            <a:ext cx="6800254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0F0FF"/>
                </a:solidFill>
                <a:latin typeface="Inter"/>
              </a:rPr>
              <a:t>• Structure Parsing:</a:t>
            </a:r>
            <a:r>
              <a:rPr sz="1350" b="0" i="0" u="none">
                <a:solidFill>
                  <a:srgbClr val="FFFFFF"/>
                </a:solidFill>
                <a:latin typeface="Inter"/>
              </a:rPr>
              <a:t> Isolates primary subject/verb clauses.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5886450"/>
            <a:ext cx="10972800" cy="5143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1371600"/>
            <a:ext cx="7447954" cy="42862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24254" y="1371600"/>
            <a:ext cx="3258145" cy="42862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600" y="717896"/>
            <a:ext cx="11521440" cy="4476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0" i="0" u="none">
                <a:solidFill>
                  <a:srgbClr val="FFFFFF"/>
                </a:solidFill>
                <a:latin typeface="Orbitron ExtraBold"/>
              </a:rPr>
              <a:t>Deep Paragraph Compression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7725" y="6048375"/>
            <a:ext cx="4295775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CBD5E1"/>
                </a:solidFill>
                <a:latin typeface="Inter"/>
              </a:rPr>
              <a:t>Distills dense academic writing into high-impact takeaways.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84997" y="876300"/>
            <a:ext cx="171450" cy="1714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3450" y="4819650"/>
            <a:ext cx="6800254" cy="5143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575522" y="737967"/>
            <a:ext cx="3662362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 u="none" dirty="0">
                <a:solidFill>
                  <a:srgbClr val="FF1E42"/>
                </a:solidFill>
                <a:latin typeface="Orbitron"/>
              </a:rPr>
              <a:t>PARAGRAPH LEVEL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62379" y="5257800"/>
            <a:ext cx="2781895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Inter"/>
              </a:rPr>
              <a:t>Full document sweep.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3450" y="1695450"/>
            <a:ext cx="6800254" cy="2857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 u="none">
                <a:solidFill>
                  <a:srgbClr val="FFFFFF"/>
                </a:solidFill>
                <a:latin typeface="Inter ExtraBold"/>
              </a:rPr>
              <a:t>📄 Paragraph Level Selection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62379" y="1609725"/>
            <a:ext cx="2781895" cy="2190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 u="none">
                <a:solidFill>
                  <a:srgbClr val="CBD5E1"/>
                </a:solidFill>
                <a:latin typeface="Inter"/>
              </a:rPr>
              <a:t>🌐 Document Level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62379" y="1981200"/>
            <a:ext cx="2781895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64748B"/>
                </a:solidFill>
                <a:latin typeface="Inter"/>
              </a:rPr>
              <a:t>Global document translation and overall takeaway extraction.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52604" y="1700212"/>
            <a:ext cx="1181100" cy="27622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544175" y="1609725"/>
            <a:ext cx="800100" cy="21907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33450" y="2171700"/>
            <a:ext cx="6800254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F1E42"/>
                </a:solidFill>
                <a:latin typeface="Inter"/>
              </a:rPr>
              <a:t>• Multi-Layered Summaries:</a:t>
            </a:r>
            <a:r>
              <a:rPr sz="1350" b="0" i="0" u="none">
                <a:solidFill>
                  <a:srgbClr val="FFFFFF"/>
                </a:solidFill>
                <a:latin typeface="Inter"/>
              </a:rPr>
              <a:t> Distills heavy text into quick summaries.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3450" y="2524125"/>
            <a:ext cx="6800254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F1E42"/>
                </a:solidFill>
                <a:latin typeface="Inter"/>
              </a:rPr>
              <a:t>• Main Idea Extraction:</a:t>
            </a:r>
            <a:r>
              <a:rPr sz="1350" b="0" i="0" u="none">
                <a:solidFill>
                  <a:srgbClr val="FFFFFF"/>
                </a:solidFill>
                <a:latin typeface="Inter"/>
              </a:rPr>
              <a:t> Spotlights the core thesis sentence fast.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3450" y="2876550"/>
            <a:ext cx="6800254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F1E42"/>
                </a:solidFill>
                <a:latin typeface="Inter"/>
              </a:rPr>
              <a:t>• Key Takeaways:</a:t>
            </a:r>
            <a:r>
              <a:rPr sz="1350" b="0" i="0" u="none">
                <a:solidFill>
                  <a:srgbClr val="FFFFFF"/>
                </a:solidFill>
                <a:latin typeface="Inter"/>
              </a:rPr>
              <a:t> Generates actionable, scannable bullet points.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5886450"/>
            <a:ext cx="10972800" cy="5143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1371600"/>
            <a:ext cx="3258145" cy="42862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34445" y="1371600"/>
            <a:ext cx="7447954" cy="42862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600" y="695325"/>
            <a:ext cx="11521440" cy="4476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0" i="0" u="none">
                <a:solidFill>
                  <a:srgbClr val="FFFFFF"/>
                </a:solidFill>
                <a:latin typeface="Orbitron ExtraBold"/>
              </a:rPr>
              <a:t>Full Document Synthesis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7725" y="6048375"/>
            <a:ext cx="43053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CBD5E1"/>
                </a:solidFill>
                <a:latin typeface="Inter"/>
              </a:rPr>
              <a:t>Converts long-form articles into structured executive briefs.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19900" y="835148"/>
            <a:ext cx="171450" cy="1714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58295" y="4819650"/>
            <a:ext cx="6800254" cy="5143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210425" y="736207"/>
            <a:ext cx="356235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 u="none" dirty="0">
                <a:solidFill>
                  <a:srgbClr val="00F0FF"/>
                </a:solidFill>
                <a:latin typeface="Orbitron"/>
              </a:rPr>
              <a:t>DOCUMENT LEVEL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7725" y="5257800"/>
            <a:ext cx="2781895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Inter"/>
              </a:rPr>
              <a:t>Section selection.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7725" y="1609725"/>
            <a:ext cx="2781895" cy="2190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 u="none">
                <a:solidFill>
                  <a:srgbClr val="CBD5E1"/>
                </a:solidFill>
                <a:latin typeface="Inter"/>
              </a:rPr>
              <a:t>📄 Paragraph Level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7725" y="1981200"/>
            <a:ext cx="2781895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64748B"/>
                </a:solidFill>
                <a:latin typeface="Inter"/>
              </a:rPr>
              <a:t>Multi-layered summaries and thesis isolation.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58295" y="1695450"/>
            <a:ext cx="6800254" cy="2857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 u="none">
                <a:solidFill>
                  <a:srgbClr val="FFFFFF"/>
                </a:solidFill>
                <a:latin typeface="Inter ExtraBold"/>
              </a:rPr>
              <a:t>🌐 Document Level Synthesis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48545" y="1609725"/>
            <a:ext cx="981075" cy="21907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87000" y="1700212"/>
            <a:ext cx="971550" cy="27622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458295" y="2171700"/>
            <a:ext cx="6800254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0F0FF"/>
                </a:solidFill>
                <a:latin typeface="Inter"/>
              </a:rPr>
              <a:t>• Global Document Translation:</a:t>
            </a:r>
            <a:r>
              <a:rPr sz="1350" b="0" i="0" u="none">
                <a:solidFill>
                  <a:srgbClr val="FFFFFF"/>
                </a:solidFill>
                <a:latin typeface="Inter"/>
              </a:rPr>
              <a:t> Rewrites broad sections for universal access.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58295" y="2524125"/>
            <a:ext cx="6800254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0F0FF"/>
                </a:solidFill>
                <a:latin typeface="Inter"/>
              </a:rPr>
              <a:t>• Executive Brief Generation:</a:t>
            </a:r>
            <a:r>
              <a:rPr sz="1350" b="0" i="0" u="none">
                <a:solidFill>
                  <a:srgbClr val="FFFFFF"/>
                </a:solidFill>
                <a:latin typeface="Inter"/>
              </a:rPr>
              <a:t> Compiles comprehensive key takeaways.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58295" y="2876550"/>
            <a:ext cx="6800254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0F0FF"/>
                </a:solidFill>
                <a:latin typeface="Inter"/>
              </a:rPr>
              <a:t>• Universal Reading Support:</a:t>
            </a:r>
            <a:r>
              <a:rPr sz="1350" b="0" i="0" u="none">
                <a:solidFill>
                  <a:srgbClr val="FFFFFF"/>
                </a:solidFill>
                <a:latin typeface="Inter"/>
              </a:rPr>
              <a:t> Seamless integration across complex web pages.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5886450"/>
            <a:ext cx="10972800" cy="5143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9600" y="695325"/>
            <a:ext cx="11521440" cy="4476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0" i="0" u="none">
                <a:solidFill>
                  <a:srgbClr val="FFFFFF"/>
                </a:solidFill>
                <a:latin typeface="Orbitron ExtraBold"/>
              </a:rPr>
              <a:t>Personalized Vocabulary Dropdown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7725" y="6048375"/>
            <a:ext cx="405765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CBD5E1"/>
                </a:solidFill>
                <a:latin typeface="Inter"/>
              </a:rPr>
              <a:t>Turns isolated lookups into structured, ongoing learning.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461962"/>
            <a:ext cx="171450" cy="1714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76300" y="457200"/>
            <a:ext cx="2195512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FF1E42"/>
                </a:solidFill>
                <a:latin typeface="Orbitron"/>
              </a:rPr>
              <a:t>CONTINUOUS LEARNING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6BE61CB5-3BD8-FC60-0910-0FCCDB82EEB6}"/>
              </a:ext>
            </a:extLst>
          </p:cNvPr>
          <p:cNvGrpSpPr/>
          <p:nvPr/>
        </p:nvGrpSpPr>
        <p:grpSpPr>
          <a:xfrm>
            <a:off x="609600" y="2181225"/>
            <a:ext cx="3505200" cy="2667000"/>
            <a:chOff x="609600" y="2181225"/>
            <a:chExt cx="3505200" cy="2667000"/>
          </a:xfrm>
        </p:grpSpPr>
        <p:pic>
          <p:nvPicPr>
            <p:cNvPr id="4" name="Picture 3" descr="image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09600" y="2181225"/>
              <a:ext cx="3505200" cy="2667000"/>
            </a:xfrm>
            <a:prstGeom prst="rect">
              <a:avLst/>
            </a:prstGeom>
          </p:spPr>
        </p:pic>
        <p:pic>
          <p:nvPicPr>
            <p:cNvPr id="10" name="Picture 9" descr="image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85825" y="2457450"/>
              <a:ext cx="476250" cy="476250"/>
            </a:xfrm>
            <a:prstGeom prst="rect">
              <a:avLst/>
            </a:prstGeom>
          </p:spPr>
        </p:pic>
        <p:pic>
          <p:nvPicPr>
            <p:cNvPr id="13" name="Picture 12" descr="image.pn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023937" y="2581275"/>
              <a:ext cx="200025" cy="228600"/>
            </a:xfrm>
            <a:prstGeom prst="rect">
              <a:avLst/>
            </a:prstGeom>
          </p:spPr>
        </p:pic>
        <p:sp>
          <p:nvSpPr>
            <p:cNvPr id="16" name="TextBox 15"/>
            <p:cNvSpPr txBox="1"/>
            <p:nvPr/>
          </p:nvSpPr>
          <p:spPr>
            <a:xfrm>
              <a:off x="885825" y="3769221"/>
              <a:ext cx="3100387" cy="238125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500" b="1" i="0" u="none">
                  <a:solidFill>
                    <a:srgbClr val="FFFFFF"/>
                  </a:solidFill>
                  <a:latin typeface="Orbitron"/>
                </a:rPr>
                <a:t>Smart Memory Layer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885825" y="4102596"/>
              <a:ext cx="2952750" cy="469403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ts val="1848"/>
                </a:lnSpc>
              </a:pPr>
              <a:r>
                <a:rPr sz="1275" b="0" i="0" u="none">
                  <a:solidFill>
                    <a:srgbClr val="CBD5E1"/>
                  </a:solidFill>
                  <a:latin typeface="Inter"/>
                </a:rPr>
                <a:t>Words logged automatically when user inspects them.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E3B4701D-135E-893A-2E76-FE235655D28B}"/>
              </a:ext>
            </a:extLst>
          </p:cNvPr>
          <p:cNvGrpSpPr/>
          <p:nvPr/>
        </p:nvGrpSpPr>
        <p:grpSpPr>
          <a:xfrm>
            <a:off x="4343400" y="2181225"/>
            <a:ext cx="3505200" cy="2667000"/>
            <a:chOff x="4343400" y="2181225"/>
            <a:chExt cx="3505200" cy="2667000"/>
          </a:xfrm>
        </p:grpSpPr>
        <p:pic>
          <p:nvPicPr>
            <p:cNvPr id="5" name="Picture 4" descr="image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343400" y="2181225"/>
              <a:ext cx="3505200" cy="2667000"/>
            </a:xfrm>
            <a:prstGeom prst="rect">
              <a:avLst/>
            </a:prstGeom>
          </p:spPr>
        </p:pic>
        <p:pic>
          <p:nvPicPr>
            <p:cNvPr id="11" name="Picture 10" descr="image.png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4619625" y="2457450"/>
              <a:ext cx="476250" cy="476250"/>
            </a:xfrm>
            <a:prstGeom prst="rect">
              <a:avLst/>
            </a:prstGeom>
          </p:spPr>
        </p:pic>
        <p:pic>
          <p:nvPicPr>
            <p:cNvPr id="14" name="Picture 13" descr="image.png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4772025" y="2581275"/>
              <a:ext cx="171450" cy="228600"/>
            </a:xfrm>
            <a:prstGeom prst="rect">
              <a:avLst/>
            </a:prstGeom>
          </p:spPr>
        </p:pic>
        <p:sp>
          <p:nvSpPr>
            <p:cNvPr id="18" name="TextBox 17"/>
            <p:cNvSpPr txBox="1"/>
            <p:nvPr/>
          </p:nvSpPr>
          <p:spPr>
            <a:xfrm>
              <a:off x="4619625" y="3534519"/>
              <a:ext cx="3100387" cy="238125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500" b="1" i="0" u="none">
                  <a:solidFill>
                    <a:srgbClr val="FFFFFF"/>
                  </a:solidFill>
                  <a:latin typeface="Orbitron"/>
                </a:rPr>
                <a:t>Frequency Counter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4619625" y="3867894"/>
              <a:ext cx="2952750" cy="704105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ts val="1848"/>
                </a:lnSpc>
              </a:pPr>
              <a:r>
                <a:rPr sz="1275" b="0" i="0" u="none">
                  <a:solidFill>
                    <a:srgbClr val="CBD5E1"/>
                  </a:solidFill>
                  <a:latin typeface="Inter"/>
                </a:rPr>
                <a:t>Calculates word occurrences in current document to highlight importance.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AD48AAB3-9D86-38F5-B606-35C596D24E8A}"/>
              </a:ext>
            </a:extLst>
          </p:cNvPr>
          <p:cNvGrpSpPr/>
          <p:nvPr/>
        </p:nvGrpSpPr>
        <p:grpSpPr>
          <a:xfrm>
            <a:off x="8077200" y="2181225"/>
            <a:ext cx="3505200" cy="2667000"/>
            <a:chOff x="8077200" y="2181225"/>
            <a:chExt cx="3505200" cy="2667000"/>
          </a:xfrm>
        </p:grpSpPr>
        <p:pic>
          <p:nvPicPr>
            <p:cNvPr id="6" name="Picture 5" descr="image.png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8077200" y="2181225"/>
              <a:ext cx="3505200" cy="2667000"/>
            </a:xfrm>
            <a:prstGeom prst="rect">
              <a:avLst/>
            </a:prstGeom>
          </p:spPr>
        </p:pic>
        <p:pic>
          <p:nvPicPr>
            <p:cNvPr id="15" name="Picture 14" descr="image.png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8477250" y="2581275"/>
              <a:ext cx="228600" cy="228600"/>
            </a:xfrm>
            <a:prstGeom prst="rect">
              <a:avLst/>
            </a:prstGeom>
          </p:spPr>
        </p:pic>
        <p:sp>
          <p:nvSpPr>
            <p:cNvPr id="20" name="TextBox 19"/>
            <p:cNvSpPr txBox="1"/>
            <p:nvPr/>
          </p:nvSpPr>
          <p:spPr>
            <a:xfrm>
              <a:off x="8353425" y="3769221"/>
              <a:ext cx="3100387" cy="238125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500" b="1" i="0" u="none">
                  <a:solidFill>
                    <a:srgbClr val="FFFFFF"/>
                  </a:solidFill>
                  <a:latin typeface="Orbitron"/>
                </a:rPr>
                <a:t>Persistent Review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8353425" y="4102596"/>
              <a:ext cx="2952750" cy="469403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ts val="1848"/>
                </a:lnSpc>
              </a:pPr>
              <a:r>
                <a:rPr sz="1275" b="0" i="0" u="none">
                  <a:solidFill>
                    <a:srgbClr val="CBD5E1"/>
                  </a:solidFill>
                  <a:latin typeface="Inter"/>
                </a:rPr>
                <a:t>Centralized access panel to revisit weak terminology quickly.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C41D9C-A4F9-0AA1-F7BE-029772A2B2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D258357B-2B30-D5CD-2D3E-67460845A5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>
            <a:extLst>
              <a:ext uri="{FF2B5EF4-FFF2-40B4-BE49-F238E27FC236}">
                <a16:creationId xmlns:a16="http://schemas.microsoft.com/office/drawing/2014/main" id="{CA6C33D8-45DE-1F39-482D-AC18939BA1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5886450"/>
            <a:ext cx="10972800" cy="51435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FC2DB7D-0C47-0139-1970-53506A301CE7}"/>
              </a:ext>
            </a:extLst>
          </p:cNvPr>
          <p:cNvSpPr txBox="1"/>
          <p:nvPr/>
        </p:nvSpPr>
        <p:spPr>
          <a:xfrm>
            <a:off x="609600" y="695325"/>
            <a:ext cx="11521440" cy="4476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0" i="0" u="none">
                <a:solidFill>
                  <a:srgbClr val="FFFFFF"/>
                </a:solidFill>
                <a:latin typeface="Orbitron ExtraBold"/>
              </a:rPr>
              <a:t>Personalized Vocabulary Dropdown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9F9792A-7313-EDBE-F814-BEB954A04829}"/>
              </a:ext>
            </a:extLst>
          </p:cNvPr>
          <p:cNvSpPr txBox="1"/>
          <p:nvPr/>
        </p:nvSpPr>
        <p:spPr>
          <a:xfrm>
            <a:off x="847725" y="6048375"/>
            <a:ext cx="405765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CBD5E1"/>
                </a:solidFill>
                <a:latin typeface="Inter"/>
              </a:rPr>
              <a:t>Turns isolated lookups into structured, ongoing learning.</a:t>
            </a:r>
          </a:p>
        </p:txBody>
      </p:sp>
      <p:pic>
        <p:nvPicPr>
          <p:cNvPr id="9" name="Picture 8" descr="image.png">
            <a:extLst>
              <a:ext uri="{FF2B5EF4-FFF2-40B4-BE49-F238E27FC236}">
                <a16:creationId xmlns:a16="http://schemas.microsoft.com/office/drawing/2014/main" id="{C6221188-C74E-CA06-62F9-B8A0B27CDD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461962"/>
            <a:ext cx="171450" cy="17145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3EBAC11-8A28-0CA5-0D47-844B4EF9D88E}"/>
              </a:ext>
            </a:extLst>
          </p:cNvPr>
          <p:cNvSpPr txBox="1"/>
          <p:nvPr/>
        </p:nvSpPr>
        <p:spPr>
          <a:xfrm>
            <a:off x="876300" y="457200"/>
            <a:ext cx="2195512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FF1E42"/>
                </a:solidFill>
                <a:latin typeface="Orbitron"/>
              </a:rPr>
              <a:t>CONTINUOUS LEARNING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DB4DC13D-26D4-5882-DF4D-91B8022D4E86}"/>
              </a:ext>
            </a:extLst>
          </p:cNvPr>
          <p:cNvGrpSpPr/>
          <p:nvPr/>
        </p:nvGrpSpPr>
        <p:grpSpPr>
          <a:xfrm>
            <a:off x="7218936" y="1477119"/>
            <a:ext cx="4515143" cy="1829499"/>
            <a:chOff x="4343400" y="2181225"/>
            <a:chExt cx="3505200" cy="2667000"/>
          </a:xfrm>
        </p:grpSpPr>
        <p:pic>
          <p:nvPicPr>
            <p:cNvPr id="5" name="Picture 4" descr="image.png">
              <a:extLst>
                <a:ext uri="{FF2B5EF4-FFF2-40B4-BE49-F238E27FC236}">
                  <a16:creationId xmlns:a16="http://schemas.microsoft.com/office/drawing/2014/main" id="{2718832F-787F-B57C-756B-3A697B55688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343400" y="2181225"/>
              <a:ext cx="3505200" cy="2667000"/>
            </a:xfrm>
            <a:prstGeom prst="rect">
              <a:avLst/>
            </a:prstGeom>
          </p:spPr>
        </p:pic>
        <p:pic>
          <p:nvPicPr>
            <p:cNvPr id="11" name="Picture 10" descr="image.png">
              <a:extLst>
                <a:ext uri="{FF2B5EF4-FFF2-40B4-BE49-F238E27FC236}">
                  <a16:creationId xmlns:a16="http://schemas.microsoft.com/office/drawing/2014/main" id="{538690A6-734B-F540-85EA-BE07112BE2E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619625" y="2457450"/>
              <a:ext cx="476250" cy="476250"/>
            </a:xfrm>
            <a:prstGeom prst="rect">
              <a:avLst/>
            </a:prstGeom>
          </p:spPr>
        </p:pic>
        <p:pic>
          <p:nvPicPr>
            <p:cNvPr id="14" name="Picture 13" descr="image.png">
              <a:extLst>
                <a:ext uri="{FF2B5EF4-FFF2-40B4-BE49-F238E27FC236}">
                  <a16:creationId xmlns:a16="http://schemas.microsoft.com/office/drawing/2014/main" id="{BC672561-BB3B-D30C-A091-A30FF67BFB0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772025" y="2581275"/>
              <a:ext cx="171450" cy="228600"/>
            </a:xfrm>
            <a:prstGeom prst="rect">
              <a:avLst/>
            </a:prstGeom>
          </p:spPr>
        </p:pic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43B9C0C-C447-CCF5-A5E7-454D63C5D730}"/>
                </a:ext>
              </a:extLst>
            </p:cNvPr>
            <p:cNvSpPr txBox="1"/>
            <p:nvPr/>
          </p:nvSpPr>
          <p:spPr>
            <a:xfrm>
              <a:off x="4619625" y="3534519"/>
              <a:ext cx="3100387" cy="238125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500" b="1" i="0" u="none">
                  <a:solidFill>
                    <a:srgbClr val="FFFFFF"/>
                  </a:solidFill>
                  <a:latin typeface="Orbitron"/>
                </a:rPr>
                <a:t>Frequency Counter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315317E8-D1CD-BD3A-FBEA-A319942B2466}"/>
                </a:ext>
              </a:extLst>
            </p:cNvPr>
            <p:cNvSpPr txBox="1"/>
            <p:nvPr/>
          </p:nvSpPr>
          <p:spPr>
            <a:xfrm>
              <a:off x="4619625" y="3867894"/>
              <a:ext cx="2952750" cy="704105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ts val="1848"/>
                </a:lnSpc>
              </a:pPr>
              <a:r>
                <a:rPr sz="1275" b="0" i="0" u="none">
                  <a:solidFill>
                    <a:srgbClr val="CBD5E1"/>
                  </a:solidFill>
                  <a:latin typeface="Inter"/>
                </a:rPr>
                <a:t>Calculates word occurrences in current document to highlight importance.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0A5404F7-A853-B7DC-0757-94CB997F79CE}"/>
              </a:ext>
            </a:extLst>
          </p:cNvPr>
          <p:cNvGrpSpPr/>
          <p:nvPr/>
        </p:nvGrpSpPr>
        <p:grpSpPr>
          <a:xfrm>
            <a:off x="7218935" y="3862060"/>
            <a:ext cx="4515143" cy="1829499"/>
            <a:chOff x="8077200" y="2181225"/>
            <a:chExt cx="3505200" cy="2667000"/>
          </a:xfrm>
        </p:grpSpPr>
        <p:pic>
          <p:nvPicPr>
            <p:cNvPr id="6" name="Picture 5" descr="image.png">
              <a:extLst>
                <a:ext uri="{FF2B5EF4-FFF2-40B4-BE49-F238E27FC236}">
                  <a16:creationId xmlns:a16="http://schemas.microsoft.com/office/drawing/2014/main" id="{C8C84A3E-C0E6-AB61-A0FC-2B5CBFD7F8C0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8077200" y="2181225"/>
              <a:ext cx="3505200" cy="2667000"/>
            </a:xfrm>
            <a:prstGeom prst="rect">
              <a:avLst/>
            </a:prstGeom>
          </p:spPr>
        </p:pic>
        <p:pic>
          <p:nvPicPr>
            <p:cNvPr id="15" name="Picture 14" descr="image.png">
              <a:extLst>
                <a:ext uri="{FF2B5EF4-FFF2-40B4-BE49-F238E27FC236}">
                  <a16:creationId xmlns:a16="http://schemas.microsoft.com/office/drawing/2014/main" id="{99F24C80-EC46-F0A8-2482-FE58027411F3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8477250" y="2581275"/>
              <a:ext cx="228600" cy="228600"/>
            </a:xfrm>
            <a:prstGeom prst="rect">
              <a:avLst/>
            </a:prstGeom>
          </p:spPr>
        </p:pic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9DD0434F-2450-568B-A5E1-D0508ECFD7E5}"/>
                </a:ext>
              </a:extLst>
            </p:cNvPr>
            <p:cNvSpPr txBox="1"/>
            <p:nvPr/>
          </p:nvSpPr>
          <p:spPr>
            <a:xfrm>
              <a:off x="8353425" y="3769221"/>
              <a:ext cx="3100387" cy="238125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500" b="1" i="0" u="none">
                  <a:solidFill>
                    <a:srgbClr val="FFFFFF"/>
                  </a:solidFill>
                  <a:latin typeface="Orbitron"/>
                </a:rPr>
                <a:t>Persistent Review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8759BB81-BC21-7742-5594-ED50F4793D7E}"/>
                </a:ext>
              </a:extLst>
            </p:cNvPr>
            <p:cNvSpPr txBox="1"/>
            <p:nvPr/>
          </p:nvSpPr>
          <p:spPr>
            <a:xfrm>
              <a:off x="8353425" y="4102596"/>
              <a:ext cx="2952750" cy="469403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ts val="1848"/>
                </a:lnSpc>
              </a:pPr>
              <a:r>
                <a:rPr sz="1275" b="0" i="0" u="none">
                  <a:solidFill>
                    <a:srgbClr val="CBD5E1"/>
                  </a:solidFill>
                  <a:latin typeface="Inter"/>
                </a:rPr>
                <a:t>Centralized access panel to revisit weak terminology quickly.</a:t>
              </a: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24564EA7-2AA5-8AAD-700F-E351D6112229}"/>
              </a:ext>
            </a:extLst>
          </p:cNvPr>
          <p:cNvGrpSpPr/>
          <p:nvPr/>
        </p:nvGrpSpPr>
        <p:grpSpPr>
          <a:xfrm>
            <a:off x="457920" y="1477119"/>
            <a:ext cx="6303097" cy="4247405"/>
            <a:chOff x="609600" y="2181225"/>
            <a:chExt cx="3505200" cy="2667000"/>
          </a:xfrm>
        </p:grpSpPr>
        <p:pic>
          <p:nvPicPr>
            <p:cNvPr id="4" name="Picture 3" descr="image.png">
              <a:extLst>
                <a:ext uri="{FF2B5EF4-FFF2-40B4-BE49-F238E27FC236}">
                  <a16:creationId xmlns:a16="http://schemas.microsoft.com/office/drawing/2014/main" id="{16EB8A65-BB2D-B6E0-3300-46D3AA173AA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09600" y="2181225"/>
              <a:ext cx="3505200" cy="2667000"/>
            </a:xfrm>
            <a:prstGeom prst="rect">
              <a:avLst/>
            </a:prstGeom>
          </p:spPr>
        </p:pic>
        <p:pic>
          <p:nvPicPr>
            <p:cNvPr id="10" name="Picture 9" descr="image.png">
              <a:extLst>
                <a:ext uri="{FF2B5EF4-FFF2-40B4-BE49-F238E27FC236}">
                  <a16:creationId xmlns:a16="http://schemas.microsoft.com/office/drawing/2014/main" id="{719CC9CC-E09C-2263-36C9-694C274D0D9B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885825" y="2457450"/>
              <a:ext cx="476250" cy="476250"/>
            </a:xfrm>
            <a:prstGeom prst="rect">
              <a:avLst/>
            </a:prstGeom>
          </p:spPr>
        </p:pic>
        <p:pic>
          <p:nvPicPr>
            <p:cNvPr id="13" name="Picture 12" descr="image.png">
              <a:extLst>
                <a:ext uri="{FF2B5EF4-FFF2-40B4-BE49-F238E27FC236}">
                  <a16:creationId xmlns:a16="http://schemas.microsoft.com/office/drawing/2014/main" id="{1DF57802-642E-B032-596F-1578F3305F56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1023937" y="2581275"/>
              <a:ext cx="200025" cy="228600"/>
            </a:xfrm>
            <a:prstGeom prst="rect">
              <a:avLst/>
            </a:prstGeom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7883A797-F06D-705E-8D87-BB63A27DC681}"/>
                </a:ext>
              </a:extLst>
            </p:cNvPr>
            <p:cNvSpPr txBox="1"/>
            <p:nvPr/>
          </p:nvSpPr>
          <p:spPr>
            <a:xfrm>
              <a:off x="885825" y="3769221"/>
              <a:ext cx="3100387" cy="238125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2400" b="1" i="0" u="none" dirty="0">
                  <a:solidFill>
                    <a:srgbClr val="FFFFFF"/>
                  </a:solidFill>
                  <a:latin typeface="Orbitron"/>
                </a:rPr>
                <a:t>Smart Memory Layer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1D1F95B0-AB0B-2555-D1C0-68A166FB07E6}"/>
                </a:ext>
              </a:extLst>
            </p:cNvPr>
            <p:cNvSpPr txBox="1"/>
            <p:nvPr/>
          </p:nvSpPr>
          <p:spPr>
            <a:xfrm>
              <a:off x="885825" y="4102596"/>
              <a:ext cx="2952750" cy="14494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ts val="1848"/>
                </a:lnSpc>
              </a:pPr>
              <a:r>
                <a:rPr sz="1600" b="0" i="0" u="none" dirty="0">
                  <a:solidFill>
                    <a:srgbClr val="CBD5E1"/>
                  </a:solidFill>
                  <a:latin typeface="Inter"/>
                </a:rPr>
                <a:t>Words logged automatically when user inspects them.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3730650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15894B-A9E4-0D55-6C4A-4C0E742677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67939F4E-A0A3-8481-7D16-3247CA5628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>
            <a:extLst>
              <a:ext uri="{FF2B5EF4-FFF2-40B4-BE49-F238E27FC236}">
                <a16:creationId xmlns:a16="http://schemas.microsoft.com/office/drawing/2014/main" id="{E72CDA76-A327-A7D9-5DF4-15CA599AB8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5886450"/>
            <a:ext cx="10972800" cy="51435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724DDC9-4F18-BE39-39E5-EEBB5C5B882B}"/>
              </a:ext>
            </a:extLst>
          </p:cNvPr>
          <p:cNvSpPr txBox="1"/>
          <p:nvPr/>
        </p:nvSpPr>
        <p:spPr>
          <a:xfrm>
            <a:off x="609600" y="695325"/>
            <a:ext cx="11521440" cy="4476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0" i="0" u="none">
                <a:solidFill>
                  <a:srgbClr val="FFFFFF"/>
                </a:solidFill>
                <a:latin typeface="Orbitron ExtraBold"/>
              </a:rPr>
              <a:t>Personalized Vocabulary Dropdown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AEB8734-BFAE-01B0-9250-DFD9C8E3C3C4}"/>
              </a:ext>
            </a:extLst>
          </p:cNvPr>
          <p:cNvSpPr txBox="1"/>
          <p:nvPr/>
        </p:nvSpPr>
        <p:spPr>
          <a:xfrm>
            <a:off x="847725" y="6048375"/>
            <a:ext cx="405765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CBD5E1"/>
                </a:solidFill>
                <a:latin typeface="Inter"/>
              </a:rPr>
              <a:t>Turns isolated lookups into structured, ongoing learning.</a:t>
            </a:r>
          </a:p>
        </p:txBody>
      </p:sp>
      <p:pic>
        <p:nvPicPr>
          <p:cNvPr id="9" name="Picture 8" descr="image.png">
            <a:extLst>
              <a:ext uri="{FF2B5EF4-FFF2-40B4-BE49-F238E27FC236}">
                <a16:creationId xmlns:a16="http://schemas.microsoft.com/office/drawing/2014/main" id="{18B550F9-852D-E498-F599-70BCEE7BC6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461962"/>
            <a:ext cx="171450" cy="17145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4E574A0-ADA1-08D6-64E8-22AB3201B959}"/>
              </a:ext>
            </a:extLst>
          </p:cNvPr>
          <p:cNvSpPr txBox="1"/>
          <p:nvPr/>
        </p:nvSpPr>
        <p:spPr>
          <a:xfrm>
            <a:off x="876300" y="457200"/>
            <a:ext cx="2195512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FF1E42"/>
                </a:solidFill>
                <a:latin typeface="Orbitron"/>
              </a:rPr>
              <a:t>CONTINUOUS LEARNING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9992BD36-29BE-2D8C-E7F2-1EE87E09F52F}"/>
              </a:ext>
            </a:extLst>
          </p:cNvPr>
          <p:cNvGrpSpPr/>
          <p:nvPr/>
        </p:nvGrpSpPr>
        <p:grpSpPr>
          <a:xfrm>
            <a:off x="7218935" y="3862060"/>
            <a:ext cx="4515143" cy="1829499"/>
            <a:chOff x="8077200" y="2181225"/>
            <a:chExt cx="3505200" cy="2667000"/>
          </a:xfrm>
        </p:grpSpPr>
        <p:pic>
          <p:nvPicPr>
            <p:cNvPr id="6" name="Picture 5" descr="image.png">
              <a:extLst>
                <a:ext uri="{FF2B5EF4-FFF2-40B4-BE49-F238E27FC236}">
                  <a16:creationId xmlns:a16="http://schemas.microsoft.com/office/drawing/2014/main" id="{8686902F-159A-B528-27B1-0056D807113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077200" y="2181225"/>
              <a:ext cx="3505200" cy="2667000"/>
            </a:xfrm>
            <a:prstGeom prst="rect">
              <a:avLst/>
            </a:prstGeom>
          </p:spPr>
        </p:pic>
        <p:pic>
          <p:nvPicPr>
            <p:cNvPr id="15" name="Picture 14" descr="image.png">
              <a:extLst>
                <a:ext uri="{FF2B5EF4-FFF2-40B4-BE49-F238E27FC236}">
                  <a16:creationId xmlns:a16="http://schemas.microsoft.com/office/drawing/2014/main" id="{F35C5B17-12BA-8AB4-933E-4D7EA9625A6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477250" y="2581275"/>
              <a:ext cx="228600" cy="228600"/>
            </a:xfrm>
            <a:prstGeom prst="rect">
              <a:avLst/>
            </a:prstGeom>
          </p:spPr>
        </p:pic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0A2C9384-3E60-96EB-8D41-BBBB854EB3DB}"/>
                </a:ext>
              </a:extLst>
            </p:cNvPr>
            <p:cNvSpPr txBox="1"/>
            <p:nvPr/>
          </p:nvSpPr>
          <p:spPr>
            <a:xfrm>
              <a:off x="8353425" y="3769221"/>
              <a:ext cx="3100387" cy="238125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500" b="1" i="0" u="none">
                  <a:solidFill>
                    <a:srgbClr val="FFFFFF"/>
                  </a:solidFill>
                  <a:latin typeface="Orbitron"/>
                </a:rPr>
                <a:t>Persistent Review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52D19862-97F9-431B-9B9E-7339DFCB416B}"/>
                </a:ext>
              </a:extLst>
            </p:cNvPr>
            <p:cNvSpPr txBox="1"/>
            <p:nvPr/>
          </p:nvSpPr>
          <p:spPr>
            <a:xfrm>
              <a:off x="8353425" y="4102596"/>
              <a:ext cx="2952750" cy="469403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ts val="1848"/>
                </a:lnSpc>
              </a:pPr>
              <a:r>
                <a:rPr sz="1275" b="0" i="0" u="none">
                  <a:solidFill>
                    <a:srgbClr val="CBD5E1"/>
                  </a:solidFill>
                  <a:latin typeface="Inter"/>
                </a:rPr>
                <a:t>Centralized access panel to revisit weak terminology quickly.</a:t>
              </a: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8AEAB0E2-CD27-CAFE-88BE-8013D7E9FFF3}"/>
              </a:ext>
            </a:extLst>
          </p:cNvPr>
          <p:cNvGrpSpPr/>
          <p:nvPr/>
        </p:nvGrpSpPr>
        <p:grpSpPr>
          <a:xfrm>
            <a:off x="7218935" y="1491290"/>
            <a:ext cx="4515143" cy="1932884"/>
            <a:chOff x="609600" y="2181225"/>
            <a:chExt cx="3505200" cy="2667000"/>
          </a:xfrm>
        </p:grpSpPr>
        <p:pic>
          <p:nvPicPr>
            <p:cNvPr id="4" name="Picture 3" descr="image.png">
              <a:extLst>
                <a:ext uri="{FF2B5EF4-FFF2-40B4-BE49-F238E27FC236}">
                  <a16:creationId xmlns:a16="http://schemas.microsoft.com/office/drawing/2014/main" id="{4D525D7C-8696-609B-0012-E3D4C53C188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09600" y="2181225"/>
              <a:ext cx="3505200" cy="2667000"/>
            </a:xfrm>
            <a:prstGeom prst="rect">
              <a:avLst/>
            </a:prstGeom>
          </p:spPr>
        </p:pic>
        <p:pic>
          <p:nvPicPr>
            <p:cNvPr id="10" name="Picture 9" descr="image.png">
              <a:extLst>
                <a:ext uri="{FF2B5EF4-FFF2-40B4-BE49-F238E27FC236}">
                  <a16:creationId xmlns:a16="http://schemas.microsoft.com/office/drawing/2014/main" id="{9D4E69DE-20F1-10B0-E0BD-6B874A1F852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885825" y="2457450"/>
              <a:ext cx="476250" cy="476250"/>
            </a:xfrm>
            <a:prstGeom prst="rect">
              <a:avLst/>
            </a:prstGeom>
          </p:spPr>
        </p:pic>
        <p:pic>
          <p:nvPicPr>
            <p:cNvPr id="13" name="Picture 12" descr="image.png">
              <a:extLst>
                <a:ext uri="{FF2B5EF4-FFF2-40B4-BE49-F238E27FC236}">
                  <a16:creationId xmlns:a16="http://schemas.microsoft.com/office/drawing/2014/main" id="{CC0B6BDA-F86C-F5EF-EEEC-F1559E4A4874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023937" y="2581275"/>
              <a:ext cx="200025" cy="228600"/>
            </a:xfrm>
            <a:prstGeom prst="rect">
              <a:avLst/>
            </a:prstGeom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341B3D08-8AFE-0E7F-08AF-938A602DF8F4}"/>
                </a:ext>
              </a:extLst>
            </p:cNvPr>
            <p:cNvSpPr txBox="1"/>
            <p:nvPr/>
          </p:nvSpPr>
          <p:spPr>
            <a:xfrm>
              <a:off x="885825" y="3769221"/>
              <a:ext cx="3100387" cy="238125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500" b="1" i="0" u="none">
                  <a:solidFill>
                    <a:srgbClr val="FFFFFF"/>
                  </a:solidFill>
                  <a:latin typeface="Orbitron"/>
                </a:rPr>
                <a:t>Smart Memory Layer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6B598AA9-D0CA-B1B5-D192-0A991C261FC5}"/>
                </a:ext>
              </a:extLst>
            </p:cNvPr>
            <p:cNvSpPr txBox="1"/>
            <p:nvPr/>
          </p:nvSpPr>
          <p:spPr>
            <a:xfrm>
              <a:off x="885825" y="4102596"/>
              <a:ext cx="2952750" cy="469403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ts val="1848"/>
                </a:lnSpc>
              </a:pPr>
              <a:r>
                <a:rPr sz="1275" b="0" i="0" u="none">
                  <a:solidFill>
                    <a:srgbClr val="CBD5E1"/>
                  </a:solidFill>
                  <a:latin typeface="Inter"/>
                </a:rPr>
                <a:t>Words logged automatically when user inspects them.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68151046-A567-8F9F-5AD5-BA0B1AF8D722}"/>
              </a:ext>
            </a:extLst>
          </p:cNvPr>
          <p:cNvGrpSpPr/>
          <p:nvPr/>
        </p:nvGrpSpPr>
        <p:grpSpPr>
          <a:xfrm>
            <a:off x="457920" y="1490697"/>
            <a:ext cx="6303097" cy="4247405"/>
            <a:chOff x="4343400" y="2181225"/>
            <a:chExt cx="3505200" cy="2667000"/>
          </a:xfrm>
        </p:grpSpPr>
        <p:pic>
          <p:nvPicPr>
            <p:cNvPr id="5" name="Picture 4" descr="image.png">
              <a:extLst>
                <a:ext uri="{FF2B5EF4-FFF2-40B4-BE49-F238E27FC236}">
                  <a16:creationId xmlns:a16="http://schemas.microsoft.com/office/drawing/2014/main" id="{3B7E6353-2034-65DD-0539-9197550DD84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343400" y="2181225"/>
              <a:ext cx="3505200" cy="2667000"/>
            </a:xfrm>
            <a:prstGeom prst="rect">
              <a:avLst/>
            </a:prstGeom>
          </p:spPr>
        </p:pic>
        <p:pic>
          <p:nvPicPr>
            <p:cNvPr id="11" name="Picture 10" descr="image.png">
              <a:extLst>
                <a:ext uri="{FF2B5EF4-FFF2-40B4-BE49-F238E27FC236}">
                  <a16:creationId xmlns:a16="http://schemas.microsoft.com/office/drawing/2014/main" id="{31D6A3D1-988F-9F3F-1FF6-A40C29192510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4619625" y="2457450"/>
              <a:ext cx="476250" cy="476250"/>
            </a:xfrm>
            <a:prstGeom prst="rect">
              <a:avLst/>
            </a:prstGeom>
          </p:spPr>
        </p:pic>
        <p:pic>
          <p:nvPicPr>
            <p:cNvPr id="14" name="Picture 13" descr="image.png">
              <a:extLst>
                <a:ext uri="{FF2B5EF4-FFF2-40B4-BE49-F238E27FC236}">
                  <a16:creationId xmlns:a16="http://schemas.microsoft.com/office/drawing/2014/main" id="{EDCFE14B-0046-21D9-F2CD-11B244CE3D66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4772025" y="2581275"/>
              <a:ext cx="171450" cy="228600"/>
            </a:xfrm>
            <a:prstGeom prst="rect">
              <a:avLst/>
            </a:prstGeom>
          </p:spPr>
        </p:pic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19CF8792-27B8-F8EC-4769-AA8C4CF47BD9}"/>
                </a:ext>
              </a:extLst>
            </p:cNvPr>
            <p:cNvSpPr txBox="1"/>
            <p:nvPr/>
          </p:nvSpPr>
          <p:spPr>
            <a:xfrm>
              <a:off x="4619625" y="3534519"/>
              <a:ext cx="3100387" cy="238125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2400" b="1" i="0" u="none" dirty="0">
                  <a:solidFill>
                    <a:srgbClr val="FFFFFF"/>
                  </a:solidFill>
                  <a:latin typeface="Orbitron"/>
                </a:rPr>
                <a:t>Frequency Counter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5057C36E-EA41-7DD1-5DB5-8E54138BC56B}"/>
                </a:ext>
              </a:extLst>
            </p:cNvPr>
            <p:cNvSpPr txBox="1"/>
            <p:nvPr/>
          </p:nvSpPr>
          <p:spPr>
            <a:xfrm>
              <a:off x="4619625" y="3867894"/>
              <a:ext cx="2952750" cy="289885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ts val="1848"/>
                </a:lnSpc>
              </a:pPr>
              <a:r>
                <a:rPr sz="1600" b="0" i="0" u="none" dirty="0">
                  <a:solidFill>
                    <a:srgbClr val="CBD5E1"/>
                  </a:solidFill>
                  <a:latin typeface="Inter"/>
                </a:rPr>
                <a:t>Calculates word occurrences in current document to highlight importance.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6093610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129E7F-29F3-2170-BDDE-499DB15587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1B6809EB-7AE2-7245-2FEC-1C896BE096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>
            <a:extLst>
              <a:ext uri="{FF2B5EF4-FFF2-40B4-BE49-F238E27FC236}">
                <a16:creationId xmlns:a16="http://schemas.microsoft.com/office/drawing/2014/main" id="{63A5596E-8684-E7C7-C148-5EB1BF117A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5886450"/>
            <a:ext cx="10972800" cy="51435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EFF63CC-2490-BE1B-7DC0-54BF452C1531}"/>
              </a:ext>
            </a:extLst>
          </p:cNvPr>
          <p:cNvSpPr txBox="1"/>
          <p:nvPr/>
        </p:nvSpPr>
        <p:spPr>
          <a:xfrm>
            <a:off x="609600" y="695325"/>
            <a:ext cx="11521440" cy="4476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0" i="0" u="none">
                <a:solidFill>
                  <a:srgbClr val="FFFFFF"/>
                </a:solidFill>
                <a:latin typeface="Orbitron ExtraBold"/>
              </a:rPr>
              <a:t>Personalized Vocabulary Dropdown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F20B305-8074-A03F-4AD4-2FE9EDBBE557}"/>
              </a:ext>
            </a:extLst>
          </p:cNvPr>
          <p:cNvSpPr txBox="1"/>
          <p:nvPr/>
        </p:nvSpPr>
        <p:spPr>
          <a:xfrm>
            <a:off x="847725" y="6048375"/>
            <a:ext cx="405765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CBD5E1"/>
                </a:solidFill>
                <a:latin typeface="Inter"/>
              </a:rPr>
              <a:t>Turns isolated lookups into structured, ongoing learning.</a:t>
            </a:r>
          </a:p>
        </p:txBody>
      </p:sp>
      <p:pic>
        <p:nvPicPr>
          <p:cNvPr id="9" name="Picture 8" descr="image.png">
            <a:extLst>
              <a:ext uri="{FF2B5EF4-FFF2-40B4-BE49-F238E27FC236}">
                <a16:creationId xmlns:a16="http://schemas.microsoft.com/office/drawing/2014/main" id="{91EAC820-4AE3-1290-FE76-34411B36F2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461962"/>
            <a:ext cx="171450" cy="17145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BA8300F-2D8B-FDB5-2F29-516BE045F68A}"/>
              </a:ext>
            </a:extLst>
          </p:cNvPr>
          <p:cNvSpPr txBox="1"/>
          <p:nvPr/>
        </p:nvSpPr>
        <p:spPr>
          <a:xfrm>
            <a:off x="876300" y="457200"/>
            <a:ext cx="2195512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FF1E42"/>
                </a:solidFill>
                <a:latin typeface="Orbitron"/>
              </a:rPr>
              <a:t>CONTINUOUS LEARNING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F9C5DF15-B19A-C4FA-2ECA-3E9A97ECBB36}"/>
              </a:ext>
            </a:extLst>
          </p:cNvPr>
          <p:cNvGrpSpPr/>
          <p:nvPr/>
        </p:nvGrpSpPr>
        <p:grpSpPr>
          <a:xfrm>
            <a:off x="7218935" y="1491290"/>
            <a:ext cx="4515143" cy="1932884"/>
            <a:chOff x="609600" y="2181225"/>
            <a:chExt cx="3505200" cy="2667000"/>
          </a:xfrm>
        </p:grpSpPr>
        <p:pic>
          <p:nvPicPr>
            <p:cNvPr id="4" name="Picture 3" descr="image.png">
              <a:extLst>
                <a:ext uri="{FF2B5EF4-FFF2-40B4-BE49-F238E27FC236}">
                  <a16:creationId xmlns:a16="http://schemas.microsoft.com/office/drawing/2014/main" id="{123FAAAA-868F-B933-D833-CDEAEFCD91E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09600" y="2181225"/>
              <a:ext cx="3505200" cy="2667000"/>
            </a:xfrm>
            <a:prstGeom prst="rect">
              <a:avLst/>
            </a:prstGeom>
          </p:spPr>
        </p:pic>
        <p:pic>
          <p:nvPicPr>
            <p:cNvPr id="10" name="Picture 9" descr="image.png">
              <a:extLst>
                <a:ext uri="{FF2B5EF4-FFF2-40B4-BE49-F238E27FC236}">
                  <a16:creationId xmlns:a16="http://schemas.microsoft.com/office/drawing/2014/main" id="{1E4EA8BE-7923-BBC6-6043-1415B33D92A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85825" y="2457450"/>
              <a:ext cx="476250" cy="476250"/>
            </a:xfrm>
            <a:prstGeom prst="rect">
              <a:avLst/>
            </a:prstGeom>
          </p:spPr>
        </p:pic>
        <p:pic>
          <p:nvPicPr>
            <p:cNvPr id="13" name="Picture 12" descr="image.png">
              <a:extLst>
                <a:ext uri="{FF2B5EF4-FFF2-40B4-BE49-F238E27FC236}">
                  <a16:creationId xmlns:a16="http://schemas.microsoft.com/office/drawing/2014/main" id="{FD0C9104-91FB-CCC3-E9B1-4AECDBCB81E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023937" y="2581275"/>
              <a:ext cx="200025" cy="228600"/>
            </a:xfrm>
            <a:prstGeom prst="rect">
              <a:avLst/>
            </a:prstGeom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2528466C-46E6-27BF-5C2D-0F843E3FC3ED}"/>
                </a:ext>
              </a:extLst>
            </p:cNvPr>
            <p:cNvSpPr txBox="1"/>
            <p:nvPr/>
          </p:nvSpPr>
          <p:spPr>
            <a:xfrm>
              <a:off x="885825" y="3769221"/>
              <a:ext cx="3100387" cy="238125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500" b="1" i="0" u="none">
                  <a:solidFill>
                    <a:srgbClr val="FFFFFF"/>
                  </a:solidFill>
                  <a:latin typeface="Orbitron"/>
                </a:rPr>
                <a:t>Smart Memory Layer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F9E98547-6112-01FB-982B-2149DDE68599}"/>
                </a:ext>
              </a:extLst>
            </p:cNvPr>
            <p:cNvSpPr txBox="1"/>
            <p:nvPr/>
          </p:nvSpPr>
          <p:spPr>
            <a:xfrm>
              <a:off x="885825" y="4102596"/>
              <a:ext cx="2952750" cy="469403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ts val="1848"/>
                </a:lnSpc>
              </a:pPr>
              <a:r>
                <a:rPr sz="1275" b="0" i="0" u="none">
                  <a:solidFill>
                    <a:srgbClr val="CBD5E1"/>
                  </a:solidFill>
                  <a:latin typeface="Inter"/>
                </a:rPr>
                <a:t>Words logged automatically when user inspects them.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7C828E77-6A92-994D-BC0F-076F8B14A918}"/>
              </a:ext>
            </a:extLst>
          </p:cNvPr>
          <p:cNvGrpSpPr/>
          <p:nvPr/>
        </p:nvGrpSpPr>
        <p:grpSpPr>
          <a:xfrm>
            <a:off x="7218933" y="3796094"/>
            <a:ext cx="4537012" cy="1932884"/>
            <a:chOff x="4343400" y="2181225"/>
            <a:chExt cx="3505200" cy="2667000"/>
          </a:xfrm>
        </p:grpSpPr>
        <p:pic>
          <p:nvPicPr>
            <p:cNvPr id="5" name="Picture 4" descr="image.png">
              <a:extLst>
                <a:ext uri="{FF2B5EF4-FFF2-40B4-BE49-F238E27FC236}">
                  <a16:creationId xmlns:a16="http://schemas.microsoft.com/office/drawing/2014/main" id="{D2E41271-D819-ED5B-F648-B2123DA7154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343400" y="2181225"/>
              <a:ext cx="3505200" cy="2667000"/>
            </a:xfrm>
            <a:prstGeom prst="rect">
              <a:avLst/>
            </a:prstGeom>
          </p:spPr>
        </p:pic>
        <p:pic>
          <p:nvPicPr>
            <p:cNvPr id="11" name="Picture 10" descr="image.png">
              <a:extLst>
                <a:ext uri="{FF2B5EF4-FFF2-40B4-BE49-F238E27FC236}">
                  <a16:creationId xmlns:a16="http://schemas.microsoft.com/office/drawing/2014/main" id="{4F9ED09E-D3AD-FFE1-8CA2-292B207C95AF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4619625" y="2457450"/>
              <a:ext cx="476250" cy="476250"/>
            </a:xfrm>
            <a:prstGeom prst="rect">
              <a:avLst/>
            </a:prstGeom>
          </p:spPr>
        </p:pic>
        <p:pic>
          <p:nvPicPr>
            <p:cNvPr id="14" name="Picture 13" descr="image.png">
              <a:extLst>
                <a:ext uri="{FF2B5EF4-FFF2-40B4-BE49-F238E27FC236}">
                  <a16:creationId xmlns:a16="http://schemas.microsoft.com/office/drawing/2014/main" id="{C5965A68-B5F4-D51D-DBEE-2F3EFDDEFD5F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4772025" y="2581275"/>
              <a:ext cx="171450" cy="228600"/>
            </a:xfrm>
            <a:prstGeom prst="rect">
              <a:avLst/>
            </a:prstGeom>
          </p:spPr>
        </p:pic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8349DDD7-6461-895F-F345-6840A32C8ADC}"/>
                </a:ext>
              </a:extLst>
            </p:cNvPr>
            <p:cNvSpPr txBox="1"/>
            <p:nvPr/>
          </p:nvSpPr>
          <p:spPr>
            <a:xfrm>
              <a:off x="4619625" y="3534519"/>
              <a:ext cx="3100387" cy="238125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500" b="1" i="0" u="none">
                  <a:solidFill>
                    <a:srgbClr val="FFFFFF"/>
                  </a:solidFill>
                  <a:latin typeface="Orbitron"/>
                </a:rPr>
                <a:t>Frequency Counter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CC971F8B-A946-F159-8729-6A73139A2601}"/>
                </a:ext>
              </a:extLst>
            </p:cNvPr>
            <p:cNvSpPr txBox="1"/>
            <p:nvPr/>
          </p:nvSpPr>
          <p:spPr>
            <a:xfrm>
              <a:off x="4619625" y="3867894"/>
              <a:ext cx="2952750" cy="704105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ts val="1848"/>
                </a:lnSpc>
              </a:pPr>
              <a:r>
                <a:rPr sz="1275" b="0" i="0" u="none">
                  <a:solidFill>
                    <a:srgbClr val="CBD5E1"/>
                  </a:solidFill>
                  <a:latin typeface="Inter"/>
                </a:rPr>
                <a:t>Calculates word occurrences in current document to highlight importance.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4CC0886B-4416-12EE-217D-AB0F310668C4}"/>
              </a:ext>
            </a:extLst>
          </p:cNvPr>
          <p:cNvGrpSpPr/>
          <p:nvPr/>
        </p:nvGrpSpPr>
        <p:grpSpPr>
          <a:xfrm>
            <a:off x="457920" y="1490697"/>
            <a:ext cx="6303093" cy="4267024"/>
            <a:chOff x="8077200" y="2181225"/>
            <a:chExt cx="3505200" cy="2667000"/>
          </a:xfrm>
        </p:grpSpPr>
        <p:pic>
          <p:nvPicPr>
            <p:cNvPr id="6" name="Picture 5" descr="image.png">
              <a:extLst>
                <a:ext uri="{FF2B5EF4-FFF2-40B4-BE49-F238E27FC236}">
                  <a16:creationId xmlns:a16="http://schemas.microsoft.com/office/drawing/2014/main" id="{ADECD923-A910-A07C-0F1D-B0B5D88A735B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8077200" y="2181225"/>
              <a:ext cx="3505200" cy="2667000"/>
            </a:xfrm>
            <a:prstGeom prst="rect">
              <a:avLst/>
            </a:prstGeom>
          </p:spPr>
        </p:pic>
        <p:pic>
          <p:nvPicPr>
            <p:cNvPr id="15" name="Picture 14" descr="image.png">
              <a:extLst>
                <a:ext uri="{FF2B5EF4-FFF2-40B4-BE49-F238E27FC236}">
                  <a16:creationId xmlns:a16="http://schemas.microsoft.com/office/drawing/2014/main" id="{F0FD48A0-4EF7-C6B4-9EE0-FE3364E3BBFD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8477250" y="2581275"/>
              <a:ext cx="228600" cy="228600"/>
            </a:xfrm>
            <a:prstGeom prst="rect">
              <a:avLst/>
            </a:prstGeom>
          </p:spPr>
        </p:pic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13110081-F3D4-3C26-255F-553F22D21FE8}"/>
                </a:ext>
              </a:extLst>
            </p:cNvPr>
            <p:cNvSpPr txBox="1"/>
            <p:nvPr/>
          </p:nvSpPr>
          <p:spPr>
            <a:xfrm>
              <a:off x="8353425" y="3705180"/>
              <a:ext cx="3100387" cy="238125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2400" b="1" i="0" u="none" dirty="0">
                  <a:solidFill>
                    <a:srgbClr val="FFFFFF"/>
                  </a:solidFill>
                  <a:latin typeface="Orbitron"/>
                </a:rPr>
                <a:t>Persistent Review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6E7B6A0B-46A5-2D57-1368-73484F1ED0C5}"/>
                </a:ext>
              </a:extLst>
            </p:cNvPr>
            <p:cNvSpPr txBox="1"/>
            <p:nvPr/>
          </p:nvSpPr>
          <p:spPr>
            <a:xfrm>
              <a:off x="8353425" y="4102596"/>
              <a:ext cx="2900247" cy="144276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ts val="1848"/>
                </a:lnSpc>
              </a:pPr>
              <a:r>
                <a:rPr sz="1600" b="0" i="0" u="none" dirty="0">
                  <a:solidFill>
                    <a:srgbClr val="CBD5E1"/>
                  </a:solidFill>
                  <a:latin typeface="Inter"/>
                </a:rPr>
                <a:t>Centralized access panel to revisit weak terminology quickly.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0443338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5886450"/>
            <a:ext cx="10972800" cy="5143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1371600"/>
            <a:ext cx="7447954" cy="42862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24254" y="1371600"/>
            <a:ext cx="3258145" cy="42862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600" y="695325"/>
            <a:ext cx="11521440" cy="4476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0" i="0" u="none">
                <a:solidFill>
                  <a:srgbClr val="FFFFFF"/>
                </a:solidFill>
                <a:latin typeface="Orbitron ExtraBold"/>
              </a:rPr>
              <a:t>Contextual Term Weighting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7725" y="6048375"/>
            <a:ext cx="4467225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CBD5E1"/>
                </a:solidFill>
                <a:latin typeface="Inter"/>
              </a:rPr>
              <a:t>Prioritizes high-frequency terms essential for domain mastery.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" y="461962"/>
            <a:ext cx="171450" cy="1714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3450" y="4819650"/>
            <a:ext cx="6800254" cy="5143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76300" y="457200"/>
            <a:ext cx="3509962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FF1E42"/>
                </a:solidFill>
                <a:latin typeface="Orbitron"/>
              </a:rPr>
              <a:t>CONTINUOUS LEARNING — SPOTLIGHT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62379" y="5257800"/>
            <a:ext cx="2781895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Inter"/>
              </a:rPr>
              <a:t>Saved vocabulary panel.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3450" y="1695450"/>
            <a:ext cx="6800254" cy="2857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 u="none">
                <a:solidFill>
                  <a:srgbClr val="FFFFFF"/>
                </a:solidFill>
                <a:latin typeface="Inter ExtraBold"/>
              </a:rPr>
              <a:t>📊 Frequency Counter Engine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3450" y="2171700"/>
            <a:ext cx="6800254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FFFFFF"/>
                </a:solidFill>
                <a:latin typeface="Inter"/>
              </a:rPr>
              <a:t>Clear Text automatically scans the current document DOM to compute the exact frequency count of researched words.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62379" y="1609725"/>
            <a:ext cx="292099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CBD5E1"/>
                </a:solidFill>
                <a:latin typeface="Orbitron"/>
              </a:rPr>
              <a:t>Persistent Review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62379" y="1914525"/>
            <a:ext cx="2781895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64748B"/>
                </a:solidFill>
                <a:latin typeface="Inter"/>
              </a:rPr>
              <a:t>Centralized workspace panel to practice vocabulary.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14479" y="1700212"/>
            <a:ext cx="1419225" cy="27622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33450" y="2857500"/>
            <a:ext cx="6800254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FF1E42"/>
                </a:solidFill>
                <a:latin typeface="Inter"/>
              </a:rPr>
              <a:t>• Relevancy Ranking:</a:t>
            </a:r>
            <a:r>
              <a:rPr sz="1275" b="0" i="0" u="none">
                <a:solidFill>
                  <a:srgbClr val="FFFFFF"/>
                </a:solidFill>
                <a:latin typeface="Inter"/>
              </a:rPr>
              <a:t> High-relevance words appear at top of dropdown.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3450" y="3181350"/>
            <a:ext cx="6800254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FF1E42"/>
                </a:solidFill>
                <a:latin typeface="Inter"/>
              </a:rPr>
              <a:t>• Context Highlights:</a:t>
            </a:r>
            <a:r>
              <a:rPr sz="1275" b="0" i="0" u="none">
                <a:solidFill>
                  <a:srgbClr val="FFFFFF"/>
                </a:solidFill>
                <a:latin typeface="Inter"/>
              </a:rPr>
              <a:t> Highlights repeating occurrences on current page.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5886450"/>
            <a:ext cx="10972800" cy="5143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98018" y="3429000"/>
            <a:ext cx="104775" cy="1714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43612" y="3429000"/>
            <a:ext cx="104775" cy="1714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89206" y="3429000"/>
            <a:ext cx="104775" cy="1714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9600" y="695325"/>
            <a:ext cx="11521440" cy="4476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0" i="0" u="none">
                <a:solidFill>
                  <a:srgbClr val="FFFFFF"/>
                </a:solidFill>
                <a:latin typeface="Orbitron ExtraBold"/>
              </a:rPr>
              <a:t>4-Stage Technical 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8675" y="6048375"/>
            <a:ext cx="50292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CBD5E1"/>
                </a:solidFill>
                <a:latin typeface="Inter"/>
              </a:rPr>
              <a:t>High-performance architecture built for speed, privacy, and reliability.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" y="461962"/>
            <a:ext cx="171450" cy="1714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7725" y="2609850"/>
            <a:ext cx="1959768" cy="3048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93318" y="2609850"/>
            <a:ext cx="1959768" cy="3048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38912" y="2609850"/>
            <a:ext cx="1959768" cy="3048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384506" y="2609850"/>
            <a:ext cx="1959768" cy="3048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76300" y="457200"/>
            <a:ext cx="2500312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0F0FF"/>
                </a:solidFill>
                <a:latin typeface="Orbitron"/>
              </a:rPr>
              <a:t>TECH STACK — OVERVIEW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7725" y="3609975"/>
            <a:ext cx="54292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0F0FF"/>
                </a:solidFill>
                <a:latin typeface="Orbitron"/>
              </a:rPr>
              <a:t>STAGE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7725" y="3800475"/>
            <a:ext cx="2057757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FFFFFF"/>
                </a:solidFill>
                <a:latin typeface="Orbitron ExtraBold"/>
              </a:rPr>
              <a:t>Front-End Layer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7725" y="4057650"/>
            <a:ext cx="1959768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CBD5E1"/>
                </a:solidFill>
                <a:latin typeface="Inter"/>
              </a:rPr>
              <a:t>Manifest V3 &amp; CSS Shadow DOM.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93318" y="3609975"/>
            <a:ext cx="59055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FF1E42"/>
                </a:solidFill>
                <a:latin typeface="Orbitron"/>
              </a:rPr>
              <a:t>STAGE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93318" y="3800475"/>
            <a:ext cx="2057757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FFFFFF"/>
                </a:solidFill>
                <a:latin typeface="Orbitron ExtraBold"/>
              </a:rPr>
              <a:t>Intelligence Engine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93318" y="4057650"/>
            <a:ext cx="1959768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CBD5E1"/>
                </a:solidFill>
                <a:latin typeface="Inter"/>
              </a:rPr>
              <a:t>NLP token &amp; selection parsing.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8912" y="3790950"/>
            <a:ext cx="59055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0F0FF"/>
                </a:solidFill>
                <a:latin typeface="Orbitron"/>
              </a:rPr>
              <a:t>STAGE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8912" y="3981450"/>
            <a:ext cx="2057757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0" i="0" u="none" dirty="0">
                <a:solidFill>
                  <a:srgbClr val="FFFFFF"/>
                </a:solidFill>
                <a:latin typeface="Orbitron ExtraBold"/>
              </a:rPr>
              <a:t>Core </a:t>
            </a:r>
            <a:r>
              <a:rPr lang="en-IN" sz="1275" dirty="0">
                <a:solidFill>
                  <a:srgbClr val="FFFFFF"/>
                </a:solidFill>
                <a:latin typeface="Orbitron ExtraBold"/>
              </a:rPr>
              <a:t>A</a:t>
            </a:r>
            <a:r>
              <a:rPr sz="1275" b="0" i="0" u="none" dirty="0">
                <a:solidFill>
                  <a:srgbClr val="FFFFFF"/>
                </a:solidFill>
                <a:latin typeface="Orbitron ExtraBold"/>
              </a:rPr>
              <a:t>PI Suite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8912" y="4238625"/>
            <a:ext cx="1959768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 dirty="0">
                <a:solidFill>
                  <a:srgbClr val="CBD5E1"/>
                </a:solidFill>
                <a:latin typeface="Inter"/>
              </a:rPr>
              <a:t>TTS &amp; translation pipelines.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84506" y="3790950"/>
            <a:ext cx="58102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FF1E42"/>
                </a:solidFill>
                <a:latin typeface="Orbitron"/>
              </a:rPr>
              <a:t>STAGE 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84506" y="3981450"/>
            <a:ext cx="2057757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FFFFFF"/>
                </a:solidFill>
                <a:latin typeface="Orbitron ExtraBold"/>
              </a:rPr>
              <a:t>Local Storage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84506" y="4238625"/>
            <a:ext cx="1959768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CBD5E1"/>
                </a:solidFill>
                <a:latin typeface="Inter"/>
              </a:rPr>
              <a:t>Persistent state sync.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9035" y="3429000"/>
            <a:ext cx="104775" cy="1714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37673" y="3429000"/>
            <a:ext cx="104775" cy="1714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36310" y="3429000"/>
            <a:ext cx="104775" cy="1714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8675" y="6048375"/>
            <a:ext cx="171450" cy="1905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9600" y="695325"/>
            <a:ext cx="11521440" cy="4476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0" i="0" u="none">
                <a:solidFill>
                  <a:srgbClr val="FFFFFF"/>
                </a:solidFill>
                <a:latin typeface="Orbitron ExtraBold"/>
              </a:rPr>
              <a:t>Front-End Layer 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475" y="6048375"/>
            <a:ext cx="622935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CBD5E1"/>
                </a:solidFill>
                <a:latin typeface="Inter SemiBold"/>
              </a:rPr>
              <a:t>Manifest V3 compliance ensures lightning-fast execution and total memory isolation.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" y="461962"/>
            <a:ext cx="171450" cy="1714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5350" y="2466975"/>
            <a:ext cx="3805535" cy="3810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77185" y="2695575"/>
            <a:ext cx="1427112" cy="2095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75823" y="2695575"/>
            <a:ext cx="1427112" cy="2095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974460" y="2695575"/>
            <a:ext cx="1427112" cy="2095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76300" y="457200"/>
            <a:ext cx="2924175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0F0FF"/>
                </a:solidFill>
                <a:latin typeface="Orbitron"/>
              </a:rPr>
              <a:t>TECH STACK — STAGE 1 FOCUS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5350" y="3281362"/>
            <a:ext cx="96202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0F0FF"/>
                </a:solidFill>
                <a:latin typeface="Orbitron"/>
              </a:rPr>
              <a:t>ENTRY 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5350" y="3500437"/>
            <a:ext cx="3995811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FFFFFF"/>
                </a:solidFill>
                <a:latin typeface="Orbitron ExtraBold"/>
              </a:rPr>
              <a:t>Front-End Layer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5350" y="3833812"/>
            <a:ext cx="3805535" cy="7286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FFFFFF"/>
                </a:solidFill>
                <a:latin typeface="Inter"/>
              </a:rPr>
              <a:t>Built on Chrome Manifest V3 using isolated Shadow DOM CSS injection to prevent page style collisions.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77185" y="3971925"/>
            <a:ext cx="1498468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CBD5E1"/>
                </a:solidFill>
                <a:latin typeface="Orbitron"/>
              </a:rPr>
              <a:t>Intelligence Engine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5823" y="4152900"/>
            <a:ext cx="1498468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CBD5E1"/>
                </a:solidFill>
                <a:latin typeface="Orbitron"/>
              </a:rPr>
              <a:t>Core API Suite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74460" y="4152900"/>
            <a:ext cx="1498468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CBD5E1"/>
                </a:solidFill>
                <a:latin typeface="Orbitron"/>
              </a:rPr>
              <a:t>Local Storage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1062" y="3429000"/>
            <a:ext cx="104775" cy="1714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37673" y="3429000"/>
            <a:ext cx="104775" cy="1714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36310" y="3429000"/>
            <a:ext cx="104775" cy="1714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8675" y="6048375"/>
            <a:ext cx="171450" cy="1905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9600" y="695325"/>
            <a:ext cx="11521440" cy="4476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0" i="0" u="none">
                <a:solidFill>
                  <a:srgbClr val="FFFFFF"/>
                </a:solidFill>
                <a:latin typeface="Orbitron ExtraBold"/>
              </a:rPr>
              <a:t>Intelligence Engine Processing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475" y="6048375"/>
            <a:ext cx="5133975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CBD5E1"/>
                </a:solidFill>
                <a:latin typeface="Inter SemiBold"/>
              </a:rPr>
              <a:t>Token classification finishes in under 20 milliseconds for zero latency.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" y="461962"/>
            <a:ext cx="171450" cy="1714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0575" y="2695575"/>
            <a:ext cx="1427112" cy="2095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093987" y="2466975"/>
            <a:ext cx="3805535" cy="3810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75823" y="2695575"/>
            <a:ext cx="1427112" cy="2095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974460" y="2695575"/>
            <a:ext cx="1427112" cy="2095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76300" y="457200"/>
            <a:ext cx="2981325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FF1E42"/>
                </a:solidFill>
                <a:latin typeface="Orbitron"/>
              </a:rPr>
              <a:t>TECH STACK — STAGE 2 FOCUS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0575" y="4152900"/>
            <a:ext cx="1498468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CBD5E1"/>
                </a:solidFill>
                <a:latin typeface="Orbitron"/>
              </a:rPr>
              <a:t>Front-End Layer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93987" y="3281362"/>
            <a:ext cx="109537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FF1E42"/>
                </a:solidFill>
                <a:latin typeface="Orbitron"/>
              </a:rPr>
              <a:t>PARSING CORE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93987" y="3500437"/>
            <a:ext cx="3995811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FFFFFF"/>
                </a:solidFill>
                <a:latin typeface="Orbitron ExtraBold"/>
              </a:rPr>
              <a:t>Intelligence Engine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93987" y="3833812"/>
            <a:ext cx="3805535" cy="7286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FFFFFF"/>
                </a:solidFill>
                <a:latin typeface="Inter"/>
              </a:rPr>
              <a:t>Lightweight NLP token parsing calculates highlight lengths and instantly routes context requests.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5823" y="4152900"/>
            <a:ext cx="1498468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CBD5E1"/>
                </a:solidFill>
                <a:latin typeface="Orbitron"/>
              </a:rPr>
              <a:t>Core API Suite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74460" y="4152900"/>
            <a:ext cx="1498468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CBD5E1"/>
                </a:solidFill>
                <a:latin typeface="Orbitron"/>
              </a:rPr>
              <a:t>Local Storage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5886450"/>
            <a:ext cx="10972800" cy="5143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2228850"/>
            <a:ext cx="2600325" cy="25717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00425" y="2228850"/>
            <a:ext cx="2600325" cy="25717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1250" y="2228850"/>
            <a:ext cx="2600325" cy="25717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82075" y="2228850"/>
            <a:ext cx="2600325" cy="25717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695325"/>
            <a:ext cx="11521440" cy="4476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0" i="0" u="none">
                <a:solidFill>
                  <a:srgbClr val="FFFFFF"/>
                </a:solidFill>
                <a:latin typeface="Orbitron ExtraBold"/>
              </a:rPr>
              <a:t>Target Audience Quadrants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7725" y="6048375"/>
            <a:ext cx="611505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CBD5E1"/>
                </a:solidFill>
                <a:latin typeface="Inter"/>
              </a:rPr>
              <a:t>Bridges the gap between technical reading vocabulary and universal comprehension.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" y="461962"/>
            <a:ext cx="171450" cy="1714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6775" y="2514600"/>
            <a:ext cx="457200" cy="4572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57600" y="2514600"/>
            <a:ext cx="457200" cy="4572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48425" y="2514600"/>
            <a:ext cx="457200" cy="4572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239250" y="2514600"/>
            <a:ext cx="457200" cy="4572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76300" y="457200"/>
            <a:ext cx="274320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0F0FF"/>
                </a:solidFill>
                <a:latin typeface="Orbitron"/>
              </a:rPr>
              <a:t>MARKET IMPACT — AUDIENCE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95362" y="2628900"/>
            <a:ext cx="200025" cy="2286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771900" y="2628900"/>
            <a:ext cx="228600" cy="2286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62725" y="2628900"/>
            <a:ext cx="228600" cy="2286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353550" y="2628900"/>
            <a:ext cx="228600" cy="2286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866775" y="3606403"/>
            <a:ext cx="2190273" cy="41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FFFFF"/>
                </a:solidFill>
                <a:latin typeface="Orbitron"/>
              </a:rPr>
              <a:t>Students &amp; Academics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6775" y="4101703"/>
            <a:ext cx="2085975" cy="4417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sz="1200" b="0" i="0" u="none">
                <a:solidFill>
                  <a:srgbClr val="CBD5E1"/>
                </a:solidFill>
                <a:latin typeface="Inter"/>
              </a:rPr>
              <a:t>Rapid scanning of dense research papers.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3815953"/>
            <a:ext cx="2190273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FFFFF"/>
                </a:solidFill>
                <a:latin typeface="Orbitron"/>
              </a:rPr>
              <a:t>Language Learners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4101703"/>
            <a:ext cx="2085975" cy="4417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sz="1200" b="0" i="0" u="none">
                <a:solidFill>
                  <a:srgbClr val="CBD5E1"/>
                </a:solidFill>
                <a:latin typeface="Inter"/>
              </a:rPr>
              <a:t>Seamless immersion into foreign sites.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8425" y="3815953"/>
            <a:ext cx="2190273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FFFFF"/>
                </a:solidFill>
                <a:latin typeface="Orbitron"/>
              </a:rPr>
              <a:t>Professionals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8425" y="4101703"/>
            <a:ext cx="2085975" cy="4417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sz="1200" b="0" i="0" u="none">
                <a:solidFill>
                  <a:srgbClr val="CBD5E1"/>
                </a:solidFill>
                <a:latin typeface="Inter"/>
              </a:rPr>
              <a:t>Parsing industry briefs &amp; legal specs.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39250" y="3606403"/>
            <a:ext cx="2190273" cy="41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FFFFF"/>
                </a:solidFill>
                <a:latin typeface="Orbitron"/>
              </a:rPr>
              <a:t>Accessibility Advocates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39250" y="4101703"/>
            <a:ext cx="2085975" cy="4417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sz="1200" b="0" i="0" u="none">
                <a:solidFill>
                  <a:srgbClr val="CBD5E1"/>
                </a:solidFill>
                <a:latin typeface="Inter"/>
              </a:rPr>
              <a:t>Direct TTS and cognitive simplification.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5886450"/>
            <a:ext cx="10972800" cy="5143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2085975"/>
            <a:ext cx="4932908" cy="28575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09600" y="695325"/>
            <a:ext cx="11521440" cy="4476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0" i="0" u="none">
                <a:solidFill>
                  <a:srgbClr val="FFFFFF"/>
                </a:solidFill>
                <a:latin typeface="Orbitron ExtraBold"/>
              </a:rPr>
              <a:t>Students &amp; Academic Researchers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7725" y="6048375"/>
            <a:ext cx="3724275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CBD5E1"/>
                </a:solidFill>
                <a:latin typeface="Inter"/>
              </a:rPr>
              <a:t>Reduces research paper reading time by over 50%.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461962"/>
            <a:ext cx="171450" cy="1714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3450" y="2409825"/>
            <a:ext cx="533400" cy="5334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13983" y="2647950"/>
            <a:ext cx="1460896" cy="1905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27330" y="2647950"/>
            <a:ext cx="1460896" cy="1905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940676" y="2647950"/>
            <a:ext cx="1460896" cy="1905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76300" y="457200"/>
            <a:ext cx="177165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FF1E42"/>
                </a:solidFill>
                <a:latin typeface="Orbitron"/>
              </a:rPr>
              <a:t>AUDIENCE FOCUS 1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81087" y="2543175"/>
            <a:ext cx="238125" cy="2667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33450" y="3219450"/>
            <a:ext cx="18288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FF1E42"/>
                </a:solidFill>
                <a:latin typeface="Orbitron"/>
              </a:rPr>
              <a:t>ACADEMIC WORKFLOW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450" y="3467100"/>
            <a:ext cx="4499468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FFFFFF"/>
                </a:solidFill>
                <a:latin typeface="Orbitron ExtraBold"/>
              </a:rPr>
              <a:t>Dense Paper Parsing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3450" y="3848100"/>
            <a:ext cx="4285208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FFFFFF"/>
                </a:solidFill>
                <a:latin typeface="Inter"/>
              </a:rPr>
              <a:t>Accelerates literature reviews by instantly pulling main hypotheses and extracting complex formulas inline.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13983" y="4019550"/>
            <a:ext cx="1533941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CBD5E1"/>
                </a:solidFill>
                <a:latin typeface="Orbitron"/>
              </a:rPr>
              <a:t>Language Learners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27330" y="4200525"/>
            <a:ext cx="1533941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CBD5E1"/>
                </a:solidFill>
                <a:latin typeface="Orbitron"/>
              </a:rPr>
              <a:t>Professionals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40676" y="4200525"/>
            <a:ext cx="1533941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CBD5E1"/>
                </a:solidFill>
                <a:latin typeface="Orbitron"/>
              </a:rPr>
              <a:t>Accessibility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5886450"/>
            <a:ext cx="10972800" cy="5143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9640" y="2085975"/>
            <a:ext cx="4932908" cy="28575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09600" y="695325"/>
            <a:ext cx="11521440" cy="4476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0" i="0" u="none">
                <a:solidFill>
                  <a:srgbClr val="FFFFFF"/>
                </a:solidFill>
                <a:latin typeface="Orbitron ExtraBold"/>
              </a:rPr>
              <a:t>Accessibility Advocates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7725" y="6048375"/>
            <a:ext cx="462915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CBD5E1"/>
                </a:solidFill>
                <a:latin typeface="Inter"/>
              </a:rPr>
              <a:t>Built ground-up with accessibility features for all reader profiles.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461962"/>
            <a:ext cx="171450" cy="1714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0575" y="2647950"/>
            <a:ext cx="1460896" cy="1905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03921" y="2647950"/>
            <a:ext cx="1460896" cy="1905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17268" y="2647950"/>
            <a:ext cx="1460896" cy="1905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73490" y="2409825"/>
            <a:ext cx="533400" cy="5334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76300" y="457200"/>
            <a:ext cx="182880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0F0FF"/>
                </a:solidFill>
                <a:latin typeface="Orbitron"/>
              </a:rPr>
              <a:t>AUDIENCE FOCUS 2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06840" y="2543175"/>
            <a:ext cx="266700" cy="2667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90575" y="4200525"/>
            <a:ext cx="1533941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CBD5E1"/>
                </a:solidFill>
                <a:latin typeface="Orbitron"/>
              </a:rPr>
              <a:t>Academics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03921" y="4200525"/>
            <a:ext cx="1533941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CBD5E1"/>
                </a:solidFill>
                <a:latin typeface="Orbitron"/>
              </a:rPr>
              <a:t>Learners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17268" y="4200525"/>
            <a:ext cx="1533941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CBD5E1"/>
                </a:solidFill>
                <a:latin typeface="Orbitron"/>
              </a:rPr>
              <a:t>Professionals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73490" y="3219450"/>
            <a:ext cx="1571625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0F0FF"/>
                </a:solidFill>
                <a:latin typeface="Orbitron"/>
              </a:rPr>
              <a:t>UNIVERSAL DESIGN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73490" y="3467100"/>
            <a:ext cx="4499468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FFFFFF"/>
                </a:solidFill>
                <a:latin typeface="Orbitron ExtraBold"/>
              </a:rPr>
              <a:t>Auditory &amp; Text Simplification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73490" y="3848100"/>
            <a:ext cx="4285208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FFFFFF"/>
                </a:solidFill>
                <a:latin typeface="Inter"/>
              </a:rPr>
              <a:t>Empowers neurodivergent readers and auditory learners through direct Text-to-Speech and simplified cognitive phrasing.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6048375"/>
            <a:ext cx="10972800" cy="3524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2357437"/>
            <a:ext cx="3212455" cy="24765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31605" y="2357437"/>
            <a:ext cx="3212455" cy="24765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53610" y="2262187"/>
            <a:ext cx="4128641" cy="2667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9600" y="695325"/>
            <a:ext cx="11521440" cy="4476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0" i="0" u="none">
                <a:solidFill>
                  <a:srgbClr val="FFFFFF"/>
                </a:solidFill>
                <a:latin typeface="Orbitron ExtraBold"/>
              </a:rPr>
              <a:t>Why Clear Text Wins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90837" y="6210300"/>
            <a:ext cx="6410325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75" b="0" i="0" u="none">
                <a:solidFill>
                  <a:srgbClr val="CBD5E1"/>
                </a:solidFill>
                <a:latin typeface="Inter SemiBold"/>
              </a:rPr>
              <a:t>The only reading companion that scales dynamically from 1 word to full documents.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" y="461962"/>
            <a:ext cx="171450" cy="1714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76300" y="457200"/>
            <a:ext cx="2947987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FF1E42"/>
                </a:solidFill>
                <a:latin typeface="Orbitron"/>
              </a:rPr>
              <a:t>MARKET POSITIONING — MATRIX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25110" y="4452937"/>
            <a:ext cx="3271391" cy="1905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 u="none">
                <a:solidFill>
                  <a:srgbClr val="22C55E"/>
                </a:solidFill>
                <a:latin typeface="Inter"/>
              </a:rPr>
              <a:t>Zero Disruption Inline Flow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39360" y="4452937"/>
            <a:ext cx="190500" cy="1905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47725" y="2624137"/>
            <a:ext cx="11430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94A3B8"/>
                </a:solidFill>
                <a:latin typeface="Orbitron"/>
              </a:rPr>
              <a:t>LEGACY TOOLS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7725" y="2862262"/>
            <a:ext cx="2873015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FFFFF"/>
                </a:solidFill>
                <a:latin typeface="Orbitron"/>
              </a:rPr>
              <a:t>Standard Dictionaries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7725" y="3148012"/>
            <a:ext cx="2736205" cy="542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CBD5E1"/>
                </a:solidFill>
                <a:latin typeface="Inter"/>
              </a:rPr>
              <a:t>Single word definitions only; no paragraph summaries or audio integration.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69730" y="2624137"/>
            <a:ext cx="9715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94A3B8"/>
                </a:solidFill>
                <a:latin typeface="Orbitron"/>
              </a:rPr>
              <a:t>EXTERNAL AI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69730" y="2862262"/>
            <a:ext cx="2873015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FFFFF"/>
                </a:solidFill>
                <a:latin typeface="Orbitron"/>
              </a:rPr>
              <a:t>Standalone Chatbots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69730" y="3148012"/>
            <a:ext cx="2736205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CBD5E1"/>
                </a:solidFill>
                <a:latin typeface="Inter"/>
              </a:rPr>
              <a:t>High copy-paste friction; constant window switching breaks reading focus.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39360" y="2566987"/>
            <a:ext cx="15240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00F0FF"/>
                </a:solidFill>
                <a:latin typeface="Orbitron ExtraBold"/>
              </a:rPr>
              <a:t>OUR ADVANTAGE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39360" y="2814637"/>
            <a:ext cx="3734998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FFFFFF"/>
                </a:solidFill>
                <a:latin typeface="Orbitron Black"/>
              </a:rPr>
              <a:t>Clear Text Ecosystem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39360" y="3167062"/>
            <a:ext cx="3557141" cy="4417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sz="1200" b="0" i="0" u="none">
                <a:solidFill>
                  <a:srgbClr val="FFFFFF"/>
                </a:solidFill>
                <a:latin typeface="Inter"/>
              </a:rPr>
              <a:t>Provides nested, scale-adaptive assistance directly inline without losing focus.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5886450"/>
            <a:ext cx="10972800" cy="5143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1371600"/>
            <a:ext cx="7502574" cy="42862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40774" y="1371600"/>
            <a:ext cx="3241625" cy="42862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600" y="695325"/>
            <a:ext cx="11521440" cy="4476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0" i="0" u="none">
                <a:solidFill>
                  <a:srgbClr val="FFFFFF"/>
                </a:solidFill>
                <a:latin typeface="Orbitron ExtraBold"/>
              </a:rPr>
              <a:t>Nested Inline Value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7725" y="6048375"/>
            <a:ext cx="371475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CBD5E1"/>
                </a:solidFill>
                <a:latin typeface="Inter"/>
              </a:rPr>
              <a:t>Combines high AI utility with zero cognitive friction.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" y="461962"/>
            <a:ext cx="171450" cy="1714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76300" y="457200"/>
            <a:ext cx="2252662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0F0FF"/>
                </a:solidFill>
                <a:latin typeface="Orbitron"/>
              </a:rPr>
              <a:t>WHY CLEAR TEXT WINS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57300" y="5076825"/>
            <a:ext cx="6483399" cy="2095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75" b="1" i="0" u="none">
                <a:solidFill>
                  <a:srgbClr val="22C55E"/>
                </a:solidFill>
                <a:latin typeface="Inter"/>
              </a:rPr>
              <a:t>Frictionless micro-to-macro reading intelligence.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78899" y="5257800"/>
            <a:ext cx="2765375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Inter"/>
              </a:rPr>
              <a:t>Legacy workflow.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1075" y="5076825"/>
            <a:ext cx="180975" cy="2095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81075" y="1752600"/>
            <a:ext cx="281940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00F0FF"/>
                </a:solidFill>
                <a:latin typeface="Orbitron ExtraBold"/>
              </a:rPr>
              <a:t>THE WINNING VALUE FORMULA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1075" y="2047875"/>
            <a:ext cx="7097605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FFFFFF"/>
                </a:solidFill>
                <a:latin typeface="Orbitron Black"/>
              </a:rPr>
              <a:t>Scale-Adaptive + Inline Native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1075" y="2533650"/>
            <a:ext cx="6759624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FFFFFF"/>
                </a:solidFill>
                <a:latin typeface="Inter"/>
              </a:rPr>
              <a:t>Clear Text replaces 4 fragmented tools with 1 intelligent inline UI that morphs to your text selection.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78899" y="1609725"/>
            <a:ext cx="2903644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CBD5E1"/>
                </a:solidFill>
                <a:latin typeface="Orbitron"/>
              </a:rPr>
              <a:t>Fragmented Alternatives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78899" y="1857375"/>
            <a:ext cx="2765375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Inter"/>
              </a:rPr>
              <a:t>Dictionaries &amp; standalone chatbots force context switching.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1075" y="3219450"/>
            <a:ext cx="1838325" cy="428625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971800" y="3219450"/>
            <a:ext cx="1800225" cy="428625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5867400"/>
            <a:ext cx="10972800" cy="4572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3649265"/>
            <a:ext cx="3517850" cy="1509712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37000" y="3649265"/>
            <a:ext cx="3517850" cy="1509712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64400" y="3649265"/>
            <a:ext cx="3517850" cy="15097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695450" y="1489471"/>
            <a:ext cx="8801100" cy="10513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4140"/>
              </a:lnSpc>
            </a:pPr>
            <a:r>
              <a:rPr sz="3600" b="0" i="0" u="none">
                <a:solidFill>
                  <a:srgbClr val="FFFFFF"/>
                </a:solidFill>
                <a:latin typeface="Orbitron Black"/>
              </a:rPr>
              <a:t>Transforming Passive Reading into Active Learning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5000" y="2712243"/>
            <a:ext cx="8382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 i="0" u="none">
                <a:solidFill>
                  <a:srgbClr val="CBD5E1"/>
                </a:solidFill>
                <a:latin typeface="Inter"/>
              </a:rPr>
              <a:t>Clear Text eliminates cognitive friction and unlocks instant comprehension at any scale.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6086475"/>
            <a:ext cx="2762250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FF1E42"/>
                </a:solidFill>
                <a:latin typeface="Orbitron ExtraBold"/>
              </a:rPr>
              <a:t>TRY CLEAR TEXT TODAY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53400" y="6110287"/>
            <a:ext cx="3429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FFFFFF"/>
                </a:solidFill>
                <a:latin typeface="Inter SemiBold"/>
              </a:rPr>
              <a:t>Thank you! We are ready for your questions.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" y="533400"/>
            <a:ext cx="247650" cy="2476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7725" y="3887390"/>
            <a:ext cx="228600" cy="2286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75125" y="3887390"/>
            <a:ext cx="228600" cy="2286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02525" y="3887390"/>
            <a:ext cx="285750" cy="2286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990600" y="557212"/>
            <a:ext cx="2524125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FF1E42"/>
                </a:solidFill>
                <a:latin typeface="Orbitron"/>
              </a:rPr>
              <a:t>THE FUTURE ROADMAP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7725" y="4230290"/>
            <a:ext cx="319368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FFFFFF"/>
                </a:solidFill>
                <a:latin typeface="Orbitron"/>
              </a:rPr>
              <a:t>Cross-Device Sync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7725" y="4506515"/>
            <a:ext cx="3041600" cy="4143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0" i="0" u="none">
                <a:solidFill>
                  <a:srgbClr val="CBD5E1"/>
                </a:solidFill>
                <a:latin typeface="Inter"/>
              </a:rPr>
              <a:t>Seamless cloud synchronization of saved vocabulary terms.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5125" y="4230290"/>
            <a:ext cx="319368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FFFFFF"/>
                </a:solidFill>
                <a:latin typeface="Orbitron"/>
              </a:rPr>
              <a:t>PDF / EPUB Support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5125" y="4506515"/>
            <a:ext cx="3041600" cy="4143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0" i="0" u="none">
                <a:solidFill>
                  <a:srgbClr val="CBD5E1"/>
                </a:solidFill>
                <a:latin typeface="Inter"/>
              </a:rPr>
              <a:t>Deep native assistance for offline document formats.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02525" y="4230290"/>
            <a:ext cx="319368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FFFFFF"/>
                </a:solidFill>
                <a:latin typeface="Orbitron"/>
              </a:rPr>
              <a:t>Gamified Quizzes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02525" y="4506515"/>
            <a:ext cx="3041600" cy="4143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0" i="0" u="none">
                <a:solidFill>
                  <a:srgbClr val="CBD5E1"/>
                </a:solidFill>
                <a:latin typeface="Inter"/>
              </a:rPr>
              <a:t>Interactive review challenges generated from logged words.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1550</Words>
  <Application>Microsoft Office PowerPoint</Application>
  <PresentationFormat>Widescreen</PresentationFormat>
  <Paragraphs>295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8" baseType="lpstr">
      <vt:lpstr>Arial</vt:lpstr>
      <vt:lpstr>Calibri</vt:lpstr>
      <vt:lpstr>Inter</vt:lpstr>
      <vt:lpstr>Inter ExtraBold</vt:lpstr>
      <vt:lpstr>Inter SemiBold</vt:lpstr>
      <vt:lpstr>Orbitron</vt:lpstr>
      <vt:lpstr>Orbitron Black</vt:lpstr>
      <vt:lpstr>Orbitron ExtraBold</vt:lpstr>
      <vt:lpstr>Orbitron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PRANJAL MAAN</cp:lastModifiedBy>
  <cp:revision>2</cp:revision>
  <dcterms:created xsi:type="dcterms:W3CDTF">2013-01-27T09:14:16Z</dcterms:created>
  <dcterms:modified xsi:type="dcterms:W3CDTF">2026-09-01T21:29:03Z</dcterms:modified>
  <cp:category/>
</cp:coreProperties>
</file>